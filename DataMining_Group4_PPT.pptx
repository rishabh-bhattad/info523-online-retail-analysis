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5"/>
  </p:notesMasterIdLst>
  <p:sldIdLst>
    <p:sldId id="312" r:id="rId5"/>
    <p:sldId id="305" r:id="rId6"/>
    <p:sldId id="298" r:id="rId7"/>
    <p:sldId id="299" r:id="rId8"/>
    <p:sldId id="313" r:id="rId9"/>
    <p:sldId id="321" r:id="rId10"/>
    <p:sldId id="314" r:id="rId11"/>
    <p:sldId id="316" r:id="rId12"/>
    <p:sldId id="318" r:id="rId13"/>
    <p:sldId id="319" r:id="rId14"/>
    <p:sldId id="322" r:id="rId15"/>
    <p:sldId id="323" r:id="rId16"/>
    <p:sldId id="326" r:id="rId17"/>
    <p:sldId id="324" r:id="rId18"/>
    <p:sldId id="325" r:id="rId19"/>
    <p:sldId id="327" r:id="rId20"/>
    <p:sldId id="328" r:id="rId21"/>
    <p:sldId id="329" r:id="rId22"/>
    <p:sldId id="330" r:id="rId23"/>
    <p:sldId id="332" r:id="rId24"/>
    <p:sldId id="333" r:id="rId25"/>
    <p:sldId id="331" r:id="rId26"/>
    <p:sldId id="334" r:id="rId27"/>
    <p:sldId id="336" r:id="rId28"/>
    <p:sldId id="337" r:id="rId29"/>
    <p:sldId id="338" r:id="rId30"/>
    <p:sldId id="339" r:id="rId31"/>
    <p:sldId id="340" r:id="rId32"/>
    <p:sldId id="341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3A2F"/>
    <a:srgbClr val="474134"/>
    <a:srgbClr val="554D3D"/>
    <a:srgbClr val="595515"/>
    <a:srgbClr val="5A532C"/>
    <a:srgbClr val="5B542C"/>
    <a:srgbClr val="59522B"/>
    <a:srgbClr val="5D562D"/>
    <a:srgbClr val="655D31"/>
    <a:srgbClr val="6B6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43"/>
    <p:restoredTop sz="94892" autoAdjust="0"/>
  </p:normalViewPr>
  <p:slideViewPr>
    <p:cSldViewPr snapToGrid="0" showGuides="1">
      <p:cViewPr varScale="1">
        <p:scale>
          <a:sx n="98" d="100"/>
          <a:sy n="98" d="100"/>
        </p:scale>
        <p:origin x="232" y="536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26648-F114-4402-B049-AA57EA7F2020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2815FE-BC4D-474E-9AA3-6983BC3D8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59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0177DF1D-D731-86FC-22F9-00221AD8C2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89143" y="440217"/>
            <a:ext cx="9613711" cy="2327086"/>
          </a:xfrm>
          <a:ln w="15875"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A4FE67-D925-EFE3-2BA5-C28DA7C03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3236976"/>
            <a:ext cx="6867144" cy="2386584"/>
          </a:xfrm>
        </p:spPr>
        <p:txBody>
          <a:bodyPr anchor="b">
            <a:noAutofit/>
          </a:bodyPr>
          <a:lstStyle>
            <a:lvl1pPr algn="l"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58524-513B-3FD2-4ED0-CB0CA3A3D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7648" y="5971032"/>
            <a:ext cx="3776472" cy="530352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accent1"/>
                </a:solidFill>
                <a:latin typeface="Gill Sans Nova Light" panose="020B03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A2A54F-058C-EF24-C892-91614AF2D7E8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313A15-57C2-5BD9-DE2B-442792010C5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D750DB-651A-3C95-E822-712897C2D5A4}"/>
              </a:ext>
            </a:extLst>
          </p:cNvPr>
          <p:cNvCxnSpPr>
            <a:cxnSpLocks/>
          </p:cNvCxnSpPr>
          <p:nvPr userDrawn="1"/>
        </p:nvCxnSpPr>
        <p:spPr>
          <a:xfrm>
            <a:off x="398366" y="3226467"/>
            <a:ext cx="11395267" cy="443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136281F-EE75-A92A-B85E-00B02B5C0B67}"/>
              </a:ext>
            </a:extLst>
          </p:cNvPr>
          <p:cNvCxnSpPr>
            <a:cxnSpLocks/>
          </p:cNvCxnSpPr>
          <p:nvPr userDrawn="1"/>
        </p:nvCxnSpPr>
        <p:spPr>
          <a:xfrm>
            <a:off x="-11430" y="6165891"/>
            <a:ext cx="6339792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B98AA9-64E2-C5F9-3E90-D02F312EDC52}"/>
              </a:ext>
            </a:extLst>
          </p:cNvPr>
          <p:cNvCxnSpPr>
            <a:cxnSpLocks/>
          </p:cNvCxnSpPr>
          <p:nvPr userDrawn="1"/>
        </p:nvCxnSpPr>
        <p:spPr>
          <a:xfrm>
            <a:off x="10103564" y="6165891"/>
            <a:ext cx="208843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440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544" y="0"/>
            <a:ext cx="4370832" cy="2194560"/>
          </a:xfrm>
        </p:spPr>
        <p:txBody>
          <a:bodyPr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4A61420-31F3-2DF5-A319-19A8896350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810"/>
            <a:ext cx="4856184" cy="6850379"/>
          </a:xfrm>
          <a:ln w="15875">
            <a:solidFill>
              <a:schemeClr val="tx1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6185" y="2212849"/>
            <a:ext cx="7335814" cy="4645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6354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32D5F1B-4B4F-5C42-0EFC-AE54D2C4EC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63A1AE-C2A2-3984-EE25-E51E8DD6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1188720"/>
            <a:ext cx="9171432" cy="4480560"/>
          </a:xfrm>
          <a:ln w="15875">
            <a:solidFill>
              <a:schemeClr val="accent1"/>
            </a:solidFill>
          </a:ln>
        </p:spPr>
        <p:txBody>
          <a:bodyPr lIns="365760" bIns="640080" anchor="ctr"/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A141F-6D41-3734-9073-FB0B24ECB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5976" y="5102352"/>
            <a:ext cx="2889504" cy="36576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1374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ture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66CC86A-5147-8A3A-D69B-E3F6DBACAE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36301" y="928122"/>
            <a:ext cx="3251199" cy="5001754"/>
          </a:xfrm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1225296"/>
            <a:ext cx="4718304" cy="1645920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2898648"/>
            <a:ext cx="4370832" cy="202996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1"/>
                </a:solidFill>
              </a:defRPr>
            </a:lvl1pPr>
            <a:lvl2pPr marL="566928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accent1"/>
                </a:solidFill>
              </a:defRPr>
            </a:lvl2pPr>
            <a:lvl3pPr marL="850392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400">
                <a:solidFill>
                  <a:schemeClr val="accent1"/>
                </a:solidFill>
              </a:defRPr>
            </a:lvl3pPr>
            <a:lvl4pPr marL="1133856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200">
                <a:solidFill>
                  <a:schemeClr val="accent1"/>
                </a:solidFill>
              </a:defRPr>
            </a:lvl4pPr>
            <a:lvl5pPr marL="1417320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1CC225-384C-A7E8-AFBF-89D35684100D}"/>
              </a:ext>
            </a:extLst>
          </p:cNvPr>
          <p:cNvCxnSpPr>
            <a:cxnSpLocks/>
          </p:cNvCxnSpPr>
          <p:nvPr userDrawn="1"/>
        </p:nvCxnSpPr>
        <p:spPr>
          <a:xfrm>
            <a:off x="0" y="395159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59E07A8-FF17-EE00-CEAE-9071F30D748F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352F90E-8B45-B50A-6BB9-250D96DE376E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915D5E-49E8-33A0-1B5E-9B7880A4BC6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56D179-21F4-E208-F1F2-385E53DC3F00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95159"/>
            <a:ext cx="0" cy="6044326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45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552" y="1444752"/>
            <a:ext cx="10287000" cy="4562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B47E35-6C3A-C32C-9037-4D421B7FAE15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195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DBFA4F-F38F-EF0F-7457-5210BB03F444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8DEE4A-F4AB-FB9A-FDD7-3AFBB5A2740B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921DE1-D458-FC03-01B4-9ECBDF8B6F27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9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66344"/>
            <a:ext cx="3236976" cy="99669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B1722C2-4C66-F8BA-B3DD-6199116EF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1618488"/>
            <a:ext cx="1819656" cy="46634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EF857FA-9C5E-BED3-1ABB-A734EE39340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584448" y="1618488"/>
            <a:ext cx="1819656" cy="46634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990F14B-1D1F-AA8D-BB23-FA8F7EEF666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483096" y="1618488"/>
            <a:ext cx="1819656" cy="46634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D1D0610-E513-F5EA-0393-622F692CA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528048" y="1618488"/>
            <a:ext cx="1819656" cy="466344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8F906E4-47B1-BEE5-E30F-146C6869BF2D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30936" y="2414016"/>
            <a:ext cx="2167128" cy="3108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C6EFDC5-2080-3126-AB93-FB89817B2C2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584448" y="2414016"/>
            <a:ext cx="2167128" cy="3108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6CD9CDA-E122-F6EB-30B5-26D7E17771AB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483096" y="2414016"/>
            <a:ext cx="2167128" cy="3108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BF37293-4E33-5570-29ED-04EB525DD1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28048" y="2414016"/>
            <a:ext cx="2167128" cy="3108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7F13219-232C-C38C-7D86-D48FAC7D82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40664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3" name="Picture Placeholder 31">
            <a:extLst>
              <a:ext uri="{FF2B5EF4-FFF2-40B4-BE49-F238E27FC236}">
                <a16:creationId xmlns:a16="http://schemas.microsoft.com/office/drawing/2014/main" id="{F8C639A8-0897-2015-9829-94E98335DF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685032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4" name="Picture Placeholder 31">
            <a:extLst>
              <a:ext uri="{FF2B5EF4-FFF2-40B4-BE49-F238E27FC236}">
                <a16:creationId xmlns:a16="http://schemas.microsoft.com/office/drawing/2014/main" id="{6CBA6ABC-D5D1-9758-59EA-8DE549CC612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601968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40E68EB8-B0D8-E5D4-CE19-45219E4D703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546336" y="2852928"/>
            <a:ext cx="1892808" cy="2715768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E26C148-CFEE-21C0-96F3-EBC299FD2285}"/>
              </a:ext>
            </a:extLst>
          </p:cNvPr>
          <p:cNvCxnSpPr>
            <a:cxnSpLocks/>
          </p:cNvCxnSpPr>
          <p:nvPr userDrawn="1"/>
        </p:nvCxnSpPr>
        <p:spPr>
          <a:xfrm>
            <a:off x="6585357" y="2355475"/>
            <a:ext cx="1925203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5BFA673-0676-EDA2-B7AA-6FA05B486C17}"/>
              </a:ext>
            </a:extLst>
          </p:cNvPr>
          <p:cNvCxnSpPr>
            <a:cxnSpLocks/>
          </p:cNvCxnSpPr>
          <p:nvPr userDrawn="1"/>
        </p:nvCxnSpPr>
        <p:spPr>
          <a:xfrm>
            <a:off x="9628632" y="2361693"/>
            <a:ext cx="1929384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5B0A4BB-506D-F90C-BF18-B86999FDC27A}"/>
              </a:ext>
            </a:extLst>
          </p:cNvPr>
          <p:cNvCxnSpPr>
            <a:cxnSpLocks/>
          </p:cNvCxnSpPr>
          <p:nvPr userDrawn="1"/>
        </p:nvCxnSpPr>
        <p:spPr>
          <a:xfrm>
            <a:off x="729735" y="2354726"/>
            <a:ext cx="1929384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E4F1002-8ECA-FF8D-84D1-D74BB9C00127}"/>
              </a:ext>
            </a:extLst>
          </p:cNvPr>
          <p:cNvCxnSpPr>
            <a:cxnSpLocks/>
          </p:cNvCxnSpPr>
          <p:nvPr userDrawn="1"/>
        </p:nvCxnSpPr>
        <p:spPr>
          <a:xfrm>
            <a:off x="3672459" y="2349116"/>
            <a:ext cx="1929384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0493A2-A97C-AF3D-B912-358EF45F61BD}"/>
              </a:ext>
            </a:extLst>
          </p:cNvPr>
          <p:cNvCxnSpPr>
            <a:cxnSpLocks/>
          </p:cNvCxnSpPr>
          <p:nvPr userDrawn="1"/>
        </p:nvCxnSpPr>
        <p:spPr>
          <a:xfrm>
            <a:off x="3866404" y="929468"/>
            <a:ext cx="832559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35BFB79-CBB3-07C6-9054-B6A67EB74CD0}"/>
              </a:ext>
            </a:extLst>
          </p:cNvPr>
          <p:cNvCxnSpPr>
            <a:cxnSpLocks/>
          </p:cNvCxnSpPr>
          <p:nvPr userDrawn="1"/>
        </p:nvCxnSpPr>
        <p:spPr>
          <a:xfrm>
            <a:off x="0" y="39708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2D070E1-5B92-2362-47F1-B8BCB4EFFA48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930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192024"/>
            <a:ext cx="8165592" cy="722376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7F13219-232C-C38C-7D86-D48FAC7D82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101852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B1722C2-4C66-F8BA-B3DD-6199116EF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2124" y="2889504"/>
            <a:ext cx="1828800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8F906E4-47B1-BEE5-E30F-146C6869BF2D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1060704" y="315468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31">
            <a:extLst>
              <a:ext uri="{FF2B5EF4-FFF2-40B4-BE49-F238E27FC236}">
                <a16:creationId xmlns:a16="http://schemas.microsoft.com/office/drawing/2014/main" id="{19E34216-9950-3FAF-F3B8-AB91DE92628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101852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C3F46F42-C5D7-B0CE-E3C5-46117B70A93B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978408" y="5477256"/>
            <a:ext cx="1856232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F01F58CE-C433-DC58-1D16-405DC2D82D88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1060704" y="576072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Picture Placeholder 31">
            <a:extLst>
              <a:ext uri="{FF2B5EF4-FFF2-40B4-BE49-F238E27FC236}">
                <a16:creationId xmlns:a16="http://schemas.microsoft.com/office/drawing/2014/main" id="{F8C639A8-0897-2015-9829-94E98335DF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962764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EF857FA-9C5E-BED3-1ABB-A734EE39340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853036" y="2889504"/>
            <a:ext cx="1828800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C6EFDC5-2080-3126-AB93-FB89817B2C2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921616" y="315468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D8E671C2-9C83-AF2B-0C7A-D8CE1420463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962764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1E0C8150-95EC-3B89-D427-0C4AD56ABB9E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3839320" y="5477256"/>
            <a:ext cx="1856232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8B6CA730-8E8F-2283-CFDB-358748B1ED30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3921616" y="576072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Picture Placeholder 31">
            <a:extLst>
              <a:ext uri="{FF2B5EF4-FFF2-40B4-BE49-F238E27FC236}">
                <a16:creationId xmlns:a16="http://schemas.microsoft.com/office/drawing/2014/main" id="{6CBA6ABC-D5D1-9758-59EA-8DE549CC612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841853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990F14B-1D1F-AA8D-BB23-FA8F7EEF666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732125" y="2889504"/>
            <a:ext cx="1828800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6CD9CDA-E122-F6EB-30B5-26D7E17771AB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800705" y="315468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Picture Placeholder 31">
            <a:extLst>
              <a:ext uri="{FF2B5EF4-FFF2-40B4-BE49-F238E27FC236}">
                <a16:creationId xmlns:a16="http://schemas.microsoft.com/office/drawing/2014/main" id="{385AF281-7DED-566C-E62C-76BBF2A795A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41853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D1C2E707-78B6-51F1-8B2D-EA2147D58C21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6718409" y="5477256"/>
            <a:ext cx="1856232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9E91D85A-CBAB-980E-5BD9-3BCF8CEAC7EA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6800705" y="576072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40E68EB8-B0D8-E5D4-CE19-45219E4D703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685057" y="1261872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D1D0610-E513-F5EA-0393-622F692CA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575329" y="2889504"/>
            <a:ext cx="1828800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BF37293-4E33-5570-29ED-04EB525DD1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643909" y="315468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Picture Placeholder 31">
            <a:extLst>
              <a:ext uri="{FF2B5EF4-FFF2-40B4-BE49-F238E27FC236}">
                <a16:creationId xmlns:a16="http://schemas.microsoft.com/office/drawing/2014/main" id="{5993608C-B818-3AD4-B4D3-28D2DF627D0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685057" y="3877056"/>
            <a:ext cx="1609344" cy="160934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0E307E95-A0E7-5F5C-DFF3-F33EF29FFC3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561613" y="5477256"/>
            <a:ext cx="1856232" cy="310896"/>
          </a:xfr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93D6B271-D0F0-7CDA-BE9D-BD03B6C47BA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643909" y="5760720"/>
            <a:ext cx="1691640" cy="466344"/>
          </a:xfrm>
          <a:solidFill>
            <a:schemeClr val="accent2"/>
          </a:solidFill>
        </p:spPr>
        <p:txBody>
          <a:bodyPr lIns="0" r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211C01-E0D3-34B5-C635-7ED6C7C89E9C}"/>
              </a:ext>
            </a:extLst>
          </p:cNvPr>
          <p:cNvCxnSpPr>
            <a:cxnSpLocks/>
          </p:cNvCxnSpPr>
          <p:nvPr userDrawn="1"/>
        </p:nvCxnSpPr>
        <p:spPr>
          <a:xfrm>
            <a:off x="0" y="330022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4CCE68-630E-A4CE-AF43-3FB81EADDF21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42465"/>
            <a:ext cx="11395267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40AA902-F568-9A37-2C1B-1E3659DBE780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4CF9AA-8029-6D34-457C-9FC583E8D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4CAFEB8-8359-AC67-8760-CFF0FC604D80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E393C7-F0CA-6CFE-7A57-82D059DF9D96}"/>
              </a:ext>
            </a:extLst>
          </p:cNvPr>
          <p:cNvCxnSpPr>
            <a:cxnSpLocks/>
          </p:cNvCxnSpPr>
          <p:nvPr userDrawn="1"/>
        </p:nvCxnSpPr>
        <p:spPr>
          <a:xfrm>
            <a:off x="0" y="5915157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972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832" y="1005840"/>
            <a:ext cx="7187184" cy="4251960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BE3754CA-7CD5-66C6-9A94-42B6D2AEC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1832" y="5312664"/>
            <a:ext cx="2889504" cy="365760"/>
          </a:xfrm>
          <a:solidFill>
            <a:schemeClr val="accent3"/>
          </a:solidFill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7150B01-E47B-1FE6-D289-46641618F6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37714" y="1028362"/>
            <a:ext cx="2451100" cy="4800597"/>
          </a:xfrm>
          <a:ln w="15875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C5A325-67B4-EB21-61D9-11A62C1149D0}"/>
              </a:ext>
            </a:extLst>
          </p:cNvPr>
          <p:cNvCxnSpPr>
            <a:cxnSpLocks/>
          </p:cNvCxnSpPr>
          <p:nvPr userDrawn="1"/>
        </p:nvCxnSpPr>
        <p:spPr>
          <a:xfrm>
            <a:off x="0" y="395159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66DF71-8DDC-0AE8-6067-6C8BDF66AEE6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53E1C8-4CA4-75B1-C371-4A379986E7A8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4A3361-4A2D-2ED2-946A-46EA9B3FCC96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9A1A3AD-F519-2787-F127-4698F8E5CA39}"/>
              </a:ext>
            </a:extLst>
          </p:cNvPr>
          <p:cNvCxnSpPr>
            <a:cxnSpLocks/>
          </p:cNvCxnSpPr>
          <p:nvPr userDrawn="1"/>
        </p:nvCxnSpPr>
        <p:spPr>
          <a:xfrm>
            <a:off x="0" y="5516519"/>
            <a:ext cx="9144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5322AF-E7A0-773B-0886-72337FA4AC8E}"/>
              </a:ext>
            </a:extLst>
          </p:cNvPr>
          <p:cNvCxnSpPr>
            <a:cxnSpLocks/>
            <a:stCxn id="19" idx="3"/>
          </p:cNvCxnSpPr>
          <p:nvPr userDrawn="1"/>
        </p:nvCxnSpPr>
        <p:spPr>
          <a:xfrm>
            <a:off x="3831336" y="5495544"/>
            <a:ext cx="836066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44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5CCC7076-FFA4-750E-431A-0BE2B1B6F2E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47796" y="1652080"/>
            <a:ext cx="4406901" cy="3124681"/>
          </a:xfrm>
          <a:ln w="15875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800"/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F410FA-6919-A95F-E465-F3650BC704A5}"/>
              </a:ext>
            </a:extLst>
          </p:cNvPr>
          <p:cNvCxnSpPr>
            <a:cxnSpLocks/>
          </p:cNvCxnSpPr>
          <p:nvPr userDrawn="1"/>
        </p:nvCxnSpPr>
        <p:spPr>
          <a:xfrm>
            <a:off x="0" y="1037308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6D016C-FD2C-0B4B-A727-8A7CAF4A9846}"/>
              </a:ext>
            </a:extLst>
          </p:cNvPr>
          <p:cNvCxnSpPr>
            <a:cxnSpLocks/>
          </p:cNvCxnSpPr>
          <p:nvPr userDrawn="1"/>
        </p:nvCxnSpPr>
        <p:spPr>
          <a:xfrm flipV="1">
            <a:off x="5476731" y="1037308"/>
            <a:ext cx="0" cy="540217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A79FE8F-AD7E-5CA6-4AC2-165DA0C9BEF5}"/>
              </a:ext>
            </a:extLst>
          </p:cNvPr>
          <p:cNvCxnSpPr>
            <a:cxnSpLocks/>
          </p:cNvCxnSpPr>
          <p:nvPr userDrawn="1"/>
        </p:nvCxnSpPr>
        <p:spPr>
          <a:xfrm flipV="1">
            <a:off x="8792556" y="1027906"/>
            <a:ext cx="0" cy="541157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1AA6A48-79F7-A000-AA19-3EB390EBAFAF}"/>
              </a:ext>
            </a:extLst>
          </p:cNvPr>
          <p:cNvCxnSpPr>
            <a:cxnSpLocks/>
          </p:cNvCxnSpPr>
          <p:nvPr userDrawn="1"/>
        </p:nvCxnSpPr>
        <p:spPr>
          <a:xfrm>
            <a:off x="5476731" y="3833413"/>
            <a:ext cx="671526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2FB9E0-941D-A849-6C69-C8A3BDD784D2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68" y="54864"/>
            <a:ext cx="11256264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3483" y="1802860"/>
            <a:ext cx="2843784" cy="182734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F9E7CC0C-0A82-6C16-C499-CE38E6A5E1A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634474" y="1802860"/>
            <a:ext cx="2843784" cy="182734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7CEC54D-1FD6-3F78-8B9D-D145F9B1C3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4474" y="1279472"/>
            <a:ext cx="2843784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61EC6ED-86B0-89B9-F4F3-A17A7F150D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23483" y="1278001"/>
            <a:ext cx="2843784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3D51AA82-3529-805D-5461-E1C5DC523EB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23483" y="4599432"/>
            <a:ext cx="2843784" cy="164595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52A58E13-B509-86DD-D9FA-FE6B76B706C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5634474" y="4599432"/>
            <a:ext cx="2843784" cy="164595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D3275BA4-1A29-81A8-890F-A2019D6AD1A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34474" y="4078224"/>
            <a:ext cx="2843784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97742C31-A952-F092-74D6-5D432DBE49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23483" y="4078224"/>
            <a:ext cx="2843784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AF03A42-3FAC-6EF4-3C19-01EADE20F3D9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207008" y="5788152"/>
            <a:ext cx="3858768" cy="53246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Text Placeholder 30">
            <a:extLst>
              <a:ext uri="{FF2B5EF4-FFF2-40B4-BE49-F238E27FC236}">
                <a16:creationId xmlns:a16="http://schemas.microsoft.com/office/drawing/2014/main" id="{D4A2DF13-0ACD-F5E4-200D-EF0469F75D0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07008" y="5266944"/>
            <a:ext cx="3858768" cy="46634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7B805FCC-6D7A-F1CC-3B04-A84A068DBB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695176" y="3310128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FEE3F2FF-41FC-A05B-F6EB-A97A7D1B06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695176" y="5897880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271E6249-39AB-A674-474B-129F0FC28F0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93608" y="3310128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1743218C-8B3C-DC33-5CD2-D82FA77A522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93608" y="5897880"/>
            <a:ext cx="292608" cy="292608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8" name="Text Placeholder 43">
            <a:extLst>
              <a:ext uri="{FF2B5EF4-FFF2-40B4-BE49-F238E27FC236}">
                <a16:creationId xmlns:a16="http://schemas.microsoft.com/office/drawing/2014/main" id="{6018CAD3-E7B7-16B7-5631-0C3F7C38C53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8640" y="5330952"/>
            <a:ext cx="512064" cy="512064"/>
          </a:xfrm>
          <a:prstGeom prst="ellipse">
            <a:avLst/>
          </a:prstGeom>
          <a:ln w="15875">
            <a:solidFill>
              <a:schemeClr val="tx1"/>
            </a:solidFill>
          </a:ln>
        </p:spPr>
        <p:txBody>
          <a:bodyPr lIns="0" tIns="0" rIns="0" bIns="0" anchor="ctr"/>
          <a:lstStyle>
            <a:lvl1pPr marL="0" indent="0" algn="ctr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654059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DE488-304D-8F7B-7181-CB5794855926}"/>
              </a:ext>
            </a:extLst>
          </p:cNvPr>
          <p:cNvCxnSpPr>
            <a:cxnSpLocks/>
          </p:cNvCxnSpPr>
          <p:nvPr userDrawn="1"/>
        </p:nvCxnSpPr>
        <p:spPr>
          <a:xfrm>
            <a:off x="1565155" y="1983947"/>
            <a:ext cx="10626845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73152"/>
            <a:ext cx="3227832" cy="96926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7F13219-232C-C38C-7D86-D48FAC7D82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4360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B1722C2-4C66-F8BA-B3DD-6199116EF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064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8F906E4-47B1-BEE5-E30F-146C6869BF2D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512064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Picture Placeholder 31">
            <a:extLst>
              <a:ext uri="{FF2B5EF4-FFF2-40B4-BE49-F238E27FC236}">
                <a16:creationId xmlns:a16="http://schemas.microsoft.com/office/drawing/2014/main" id="{F8C639A8-0897-2015-9829-94E98335DF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17520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EF857FA-9C5E-BED3-1ABB-A734EE39340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16936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C6EFDC5-2080-3126-AB93-FB89817B2C2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2916936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Picture Placeholder 31">
            <a:extLst>
              <a:ext uri="{FF2B5EF4-FFF2-40B4-BE49-F238E27FC236}">
                <a16:creationId xmlns:a16="http://schemas.microsoft.com/office/drawing/2014/main" id="{6CBA6ABC-D5D1-9758-59EA-8DE549CC612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440680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990F14B-1D1F-AA8D-BB23-FA8F7EEF666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358384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D6CD9CDA-E122-F6EB-30B5-26D7E17771AB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5358384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8AC38C98-F011-6729-EA3D-B9F72D88DBB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744968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D32DAF-E8E7-6294-0961-BC9CCFB6F413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7644384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C9875650-BD0D-32C5-3819-F8C14365B414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7644384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40E68EB8-B0D8-E5D4-CE19-45219E4D703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204704" y="1481328"/>
            <a:ext cx="969264" cy="969264"/>
          </a:xfrm>
          <a:solidFill>
            <a:schemeClr val="tx2">
              <a:lumMod val="60000"/>
              <a:lumOff val="40000"/>
            </a:schemeClr>
          </a:solidFill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D1D0610-E513-F5EA-0393-622F692CA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13264" y="2743200"/>
            <a:ext cx="1389888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BF37293-4E33-5570-29ED-04EB525DD1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113264" y="3218688"/>
            <a:ext cx="1801368" cy="1481328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EEA677E-8DEA-5E75-BA4B-23D1BA7F8E99}"/>
              </a:ext>
            </a:extLst>
          </p:cNvPr>
          <p:cNvCxnSpPr>
            <a:cxnSpLocks/>
          </p:cNvCxnSpPr>
          <p:nvPr userDrawn="1"/>
        </p:nvCxnSpPr>
        <p:spPr>
          <a:xfrm>
            <a:off x="3866404" y="522548"/>
            <a:ext cx="832559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3319DB-4A46-5428-C6CC-D0751895D66F}"/>
              </a:ext>
            </a:extLst>
          </p:cNvPr>
          <p:cNvCxnSpPr>
            <a:cxnSpLocks/>
          </p:cNvCxnSpPr>
          <p:nvPr userDrawn="1"/>
        </p:nvCxnSpPr>
        <p:spPr>
          <a:xfrm>
            <a:off x="0" y="5757057"/>
            <a:ext cx="8504858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2B810B-B523-F767-647B-12432989B2E9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A089CB3-1FD6-52E9-890B-0C5EC799D8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36655" y="5143104"/>
            <a:ext cx="3355345" cy="1252728"/>
          </a:xfrm>
        </p:spPr>
        <p:txBody>
          <a:bodyPr anchor="ctr"/>
          <a:lstStyle>
            <a:lvl1pPr marL="0" indent="0"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1278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672C-3B98-424B-3047-A14FF403A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36576"/>
            <a:ext cx="5294376" cy="969264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656258F0-1496-C756-9648-B7772E2B11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4501" y="1592221"/>
            <a:ext cx="5207000" cy="4292599"/>
          </a:xfrm>
          <a:ln w="15875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99D7D-8B9F-47AD-ACF1-0FAA45069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392" y="740664"/>
            <a:ext cx="5157787" cy="466344"/>
          </a:xfrm>
        </p:spPr>
        <p:txBody>
          <a:bodyPr anchor="ctr"/>
          <a:lstStyle>
            <a:lvl1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E9DC0-11F7-BF92-00BF-7C7E94670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65392" y="1417320"/>
            <a:ext cx="5157787" cy="2029968"/>
          </a:xfr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110F4B-383C-979A-7C67-60731A902C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392" y="3941064"/>
            <a:ext cx="5183188" cy="466344"/>
          </a:xfrm>
        </p:spPr>
        <p:txBody>
          <a:bodyPr anchor="ctr"/>
          <a:lstStyle>
            <a:lvl1pPr marL="0" indent="0">
              <a:buNone/>
              <a:defRPr sz="24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58E51B-C92F-F9B7-5D67-2EE0685CC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392" y="4485555"/>
            <a:ext cx="5183188" cy="1197864"/>
          </a:xfr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376A9B-4626-290B-917F-B57D35120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7E33F-E2CD-B99B-7A79-CDC2550A1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27C822-3603-1035-6BD5-07AEADAC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816DB4-C374-189A-F1F8-5F1B43EC2B71}"/>
              </a:ext>
            </a:extLst>
          </p:cNvPr>
          <p:cNvCxnSpPr>
            <a:cxnSpLocks/>
          </p:cNvCxnSpPr>
          <p:nvPr userDrawn="1"/>
        </p:nvCxnSpPr>
        <p:spPr>
          <a:xfrm>
            <a:off x="0" y="1037557"/>
            <a:ext cx="6096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EC7540-FB09-0AE1-04FF-3706800F4DB6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0"/>
            <a:ext cx="0" cy="6439485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9421D4-0B4D-95CB-4FCB-E139DCBAD9BB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848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B0F0B75-DD75-7194-E40A-3AA5DD203B15}"/>
              </a:ext>
            </a:extLst>
          </p:cNvPr>
          <p:cNvSpPr/>
          <p:nvPr userDrawn="1"/>
        </p:nvSpPr>
        <p:spPr>
          <a:xfrm>
            <a:off x="3886830" y="1031243"/>
            <a:ext cx="7906804" cy="54062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B85F28-9AE2-01CA-E801-96F2F2ACC4FE}"/>
              </a:ext>
            </a:extLst>
          </p:cNvPr>
          <p:cNvSpPr/>
          <p:nvPr userDrawn="1"/>
        </p:nvSpPr>
        <p:spPr>
          <a:xfrm>
            <a:off x="409046" y="1042071"/>
            <a:ext cx="3455590" cy="53954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64008"/>
            <a:ext cx="8165592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7B3A0F7-4877-4804-831D-E094CB4C49B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67512" y="1673352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374C-57DC-E207-D494-6986428A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307592"/>
            <a:ext cx="7598664" cy="1197864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5160F9ED-11F2-C22D-919C-AD28524B13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" y="3452264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C5B491A-910D-96D7-7910-D672B631333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123102" y="3086504"/>
            <a:ext cx="7598664" cy="1197864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C7845D54-C197-EEDA-099F-45ED6EC803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" y="5288457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00C50B6-D96C-CEAF-4897-329D7DBC41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114800" y="4922697"/>
            <a:ext cx="7598664" cy="1197864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8A273E5-D639-4F22-9056-01A62C38E224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869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96F1646-E658-90F3-D203-86B50D2F5DEF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793165-641B-DB78-F1A5-573C6041DE9A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4121FCC-C1AD-FD70-0727-3D611AEFAAD4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890A2E-4E9B-29B4-124F-FBBCB462EB7C}"/>
              </a:ext>
            </a:extLst>
          </p:cNvPr>
          <p:cNvCxnSpPr>
            <a:cxnSpLocks/>
          </p:cNvCxnSpPr>
          <p:nvPr userDrawn="1"/>
        </p:nvCxnSpPr>
        <p:spPr>
          <a:xfrm>
            <a:off x="398366" y="2767098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256AAD6-732C-A795-FCB1-69CE94E3F1C4}"/>
              </a:ext>
            </a:extLst>
          </p:cNvPr>
          <p:cNvCxnSpPr>
            <a:cxnSpLocks/>
          </p:cNvCxnSpPr>
          <p:nvPr userDrawn="1"/>
        </p:nvCxnSpPr>
        <p:spPr>
          <a:xfrm>
            <a:off x="398366" y="4603773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162417-AD43-4C6C-A3F2-EC7D979B702A}"/>
              </a:ext>
            </a:extLst>
          </p:cNvPr>
          <p:cNvCxnSpPr>
            <a:cxnSpLocks/>
          </p:cNvCxnSpPr>
          <p:nvPr userDrawn="1"/>
        </p:nvCxnSpPr>
        <p:spPr>
          <a:xfrm flipV="1">
            <a:off x="3864636" y="1031243"/>
            <a:ext cx="0" cy="540724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348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5A4D4F6-5B85-FBD0-E507-B32E94BF2066}"/>
              </a:ext>
            </a:extLst>
          </p:cNvPr>
          <p:cNvSpPr/>
          <p:nvPr userDrawn="1"/>
        </p:nvSpPr>
        <p:spPr>
          <a:xfrm>
            <a:off x="3886830" y="1031243"/>
            <a:ext cx="7906804" cy="54062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7666C5-50ED-BD11-EBB3-5068C0F8FE27}"/>
              </a:ext>
            </a:extLst>
          </p:cNvPr>
          <p:cNvSpPr/>
          <p:nvPr userDrawn="1"/>
        </p:nvSpPr>
        <p:spPr>
          <a:xfrm>
            <a:off x="409046" y="1042071"/>
            <a:ext cx="3455590" cy="53954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2EAF0B87-8A17-7C9D-202E-F0AC8A920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64008"/>
            <a:ext cx="8165592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C766325D-8175-9B95-4BB6-87E3195AAD3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67512" y="2155720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F9AFE21-B015-59CC-B869-6CA584CD8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283336"/>
            <a:ext cx="7598664" cy="2211112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1CCD754-FDAD-02A0-CC23-AE197F4DA1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" y="4856116"/>
            <a:ext cx="2907792" cy="466344"/>
          </a:xfr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8DA3CBCD-145A-E531-00B6-F66E3BB91D3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114800" y="3983732"/>
            <a:ext cx="7598664" cy="2211112"/>
          </a:xfrm>
        </p:spPr>
        <p:txBody>
          <a:bodyPr anchor="ctr"/>
          <a:lstStyle>
            <a:lvl1pPr marL="283464">
              <a:lnSpc>
                <a:spcPct val="100000"/>
              </a:lnSpc>
              <a:spcBef>
                <a:spcPts val="0"/>
              </a:spcBef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defRPr sz="16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C8C7A88B-B5E6-DF17-298C-3F1D6F2B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F6BF98F2-CC55-EA67-AFEB-3B9BDA92B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80D6DCDD-07F4-F7F0-12E1-CAF3B5CCCE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22471" y="6517634"/>
            <a:ext cx="950260" cy="274320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26EBCF-823D-784A-BF8D-A377758CEB81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869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D6E25F4-4D19-CCBB-9F09-7369C86AAD57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6A4D074-D2CA-D6E0-115B-1CEDA471F0F3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B039A31-257E-2036-4142-307DD91B05CC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39C06B9-E1A2-A881-C800-86FBB69963F9}"/>
              </a:ext>
            </a:extLst>
          </p:cNvPr>
          <p:cNvCxnSpPr>
            <a:cxnSpLocks/>
          </p:cNvCxnSpPr>
          <p:nvPr userDrawn="1"/>
        </p:nvCxnSpPr>
        <p:spPr>
          <a:xfrm>
            <a:off x="398366" y="3739090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DDBBDAB-1770-6117-02A2-DF798EAD6320}"/>
              </a:ext>
            </a:extLst>
          </p:cNvPr>
          <p:cNvCxnSpPr>
            <a:cxnSpLocks/>
          </p:cNvCxnSpPr>
          <p:nvPr userDrawn="1"/>
        </p:nvCxnSpPr>
        <p:spPr>
          <a:xfrm flipV="1">
            <a:off x="3864636" y="1031243"/>
            <a:ext cx="0" cy="540724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785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872" y="4389120"/>
            <a:ext cx="4709160" cy="1645920"/>
          </a:xfrm>
        </p:spPr>
        <p:txBody>
          <a:bodyPr/>
          <a:lstStyle>
            <a:lvl1pPr algn="ctr"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D728F67-F092-A253-7F58-A329D8F43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680" y="2130552"/>
            <a:ext cx="8165592" cy="175564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1"/>
                </a:solidFill>
              </a:defRPr>
            </a:lvl1pPr>
            <a:lvl2pPr marL="566928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accent1"/>
                </a:solidFill>
              </a:defRPr>
            </a:lvl2pPr>
            <a:lvl3pPr marL="850392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400">
                <a:solidFill>
                  <a:schemeClr val="accent1"/>
                </a:solidFill>
              </a:defRPr>
            </a:lvl3pPr>
            <a:lvl4pPr marL="1133856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200">
                <a:solidFill>
                  <a:schemeClr val="accent1"/>
                </a:solidFill>
              </a:defRPr>
            </a:lvl4pPr>
            <a:lvl5pPr marL="1417320" indent="-283464">
              <a:lnSpc>
                <a:spcPct val="100000"/>
              </a:lnSpc>
              <a:buFont typeface="Wingdings" panose="05000000000000000000" pitchFamily="2" charset="2"/>
              <a:buChar char="§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1ABA6-5EA3-1AE9-0825-523073F7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5317-E14C-8E61-2C1E-0430778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14D0E-ED92-E1A4-0E78-546375A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E5CB43-9C58-7065-8F71-3D1335DCA2E8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7C51743-4A18-4275-9C86-2A02654EB16B}"/>
              </a:ext>
            </a:extLst>
          </p:cNvPr>
          <p:cNvSpPr/>
          <p:nvPr userDrawn="1"/>
        </p:nvSpPr>
        <p:spPr>
          <a:xfrm>
            <a:off x="1509823" y="1188365"/>
            <a:ext cx="9172353" cy="4481269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0105206-25D5-CAFF-D01A-6C366A0DDD06}"/>
              </a:ext>
            </a:extLst>
          </p:cNvPr>
          <p:cNvCxnSpPr>
            <a:cxnSpLocks/>
          </p:cNvCxnSpPr>
          <p:nvPr userDrawn="1"/>
        </p:nvCxnSpPr>
        <p:spPr>
          <a:xfrm>
            <a:off x="0" y="5208047"/>
            <a:ext cx="5837756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68D0A6-8634-2DEB-AE13-929FDDFD954E}"/>
              </a:ext>
            </a:extLst>
          </p:cNvPr>
          <p:cNvCxnSpPr>
            <a:cxnSpLocks/>
          </p:cNvCxnSpPr>
          <p:nvPr userDrawn="1"/>
        </p:nvCxnSpPr>
        <p:spPr>
          <a:xfrm>
            <a:off x="10546079" y="5220132"/>
            <a:ext cx="1645921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668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BD26-4C3C-C934-E3C5-C4ABD369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544" y="731520"/>
            <a:ext cx="5952744" cy="1645920"/>
          </a:xfrm>
        </p:spPr>
        <p:txBody>
          <a:bodyPr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2AA6941D-E239-2A54-E6C1-1574E59717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872540" cy="6858000"/>
          </a:xfrm>
          <a:ln w="15875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4C3332-D605-38F6-7D05-D7B329747768}"/>
              </a:ext>
            </a:extLst>
          </p:cNvPr>
          <p:cNvCxnSpPr>
            <a:cxnSpLocks/>
          </p:cNvCxnSpPr>
          <p:nvPr userDrawn="1"/>
        </p:nvCxnSpPr>
        <p:spPr>
          <a:xfrm>
            <a:off x="4863079" y="4150757"/>
            <a:ext cx="732892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7B2C081-8C69-001E-872F-68A1B1E48B94}"/>
              </a:ext>
            </a:extLst>
          </p:cNvPr>
          <p:cNvCxnSpPr>
            <a:cxnSpLocks/>
          </p:cNvCxnSpPr>
          <p:nvPr userDrawn="1"/>
        </p:nvCxnSpPr>
        <p:spPr>
          <a:xfrm>
            <a:off x="4872540" y="5515589"/>
            <a:ext cx="732892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5613557-EA43-56E7-5DE1-8A9813B2D7EB}"/>
              </a:ext>
            </a:extLst>
          </p:cNvPr>
          <p:cNvCxnSpPr>
            <a:cxnSpLocks/>
          </p:cNvCxnSpPr>
          <p:nvPr userDrawn="1"/>
        </p:nvCxnSpPr>
        <p:spPr>
          <a:xfrm>
            <a:off x="4872540" y="2766534"/>
            <a:ext cx="732892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CA79F44-DB47-D961-5554-E6CEF0F31D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5545" y="3191256"/>
            <a:ext cx="5953506" cy="73152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D8CB894C-EA47-EEFE-AB8C-A9B9B10EDF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94782" y="4498848"/>
            <a:ext cx="5953506" cy="73152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B3C09B13-9367-B435-A76A-9DBB1332FC5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94782" y="5797296"/>
            <a:ext cx="5953506" cy="73152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4101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77913A3-071A-44D9-E59A-B9C86D99F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67C02-F658-3749-9924-99BDA9C1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120C0-232E-AD3B-138D-B65A7AD49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10ABD4-B26A-0940-A80F-399F8FCAD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4864F6-8550-2BFC-DC03-2BB296DF2E95}"/>
              </a:ext>
            </a:extLst>
          </p:cNvPr>
          <p:cNvCxnSpPr>
            <a:cxnSpLocks/>
          </p:cNvCxnSpPr>
          <p:nvPr userDrawn="1"/>
        </p:nvCxnSpPr>
        <p:spPr>
          <a:xfrm>
            <a:off x="398366" y="1031955"/>
            <a:ext cx="113952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95A92E-7815-7546-3201-42AEFA654F4C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F23430-1681-F3A4-F071-7C338746014B}"/>
              </a:ext>
            </a:extLst>
          </p:cNvPr>
          <p:cNvCxnSpPr>
            <a:cxnSpLocks/>
          </p:cNvCxnSpPr>
          <p:nvPr userDrawn="1"/>
        </p:nvCxnSpPr>
        <p:spPr>
          <a:xfrm flipV="1">
            <a:off x="398367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B44D2F-F976-B752-100E-E994C9F0206A}"/>
              </a:ext>
            </a:extLst>
          </p:cNvPr>
          <p:cNvCxnSpPr>
            <a:cxnSpLocks/>
          </p:cNvCxnSpPr>
          <p:nvPr userDrawn="1"/>
        </p:nvCxnSpPr>
        <p:spPr>
          <a:xfrm flipV="1">
            <a:off x="11793633" y="0"/>
            <a:ext cx="0" cy="6858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943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AC1505-F26B-3039-38E3-3A7F7CC7F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2C2A94-01A4-034C-9AE7-87CF12383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5BEB7-6CEE-98EF-C00B-19BF6407E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/>
          <a:lstStyle/>
          <a:p>
            <a:fld id="{84D792B7-0397-C047-AE12-1A03F7E3DC8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912249-F431-4F6C-4213-30FF47C81741}"/>
              </a:ext>
            </a:extLst>
          </p:cNvPr>
          <p:cNvCxnSpPr>
            <a:cxnSpLocks/>
          </p:cNvCxnSpPr>
          <p:nvPr userDrawn="1"/>
        </p:nvCxnSpPr>
        <p:spPr>
          <a:xfrm>
            <a:off x="0" y="6439485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18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5AA5F-2C28-9886-0D00-5D18198ECE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2471" y="6517634"/>
            <a:ext cx="95026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spc="300" baseline="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2ECB-9F56-BDF6-8792-01F55B2EA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2B5B1-8D0B-68C6-B628-3FF8E5DCD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F9CC0-D93B-C416-BCCE-87441F99C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6640" y="6517634"/>
            <a:ext cx="950258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spc="300" baseline="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fld id="{84D792B7-0397-C047-AE12-1A03F7E3DC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4253F60-8B31-6272-41B3-5C95D6A90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08250" y="6517634"/>
            <a:ext cx="257287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spc="300" baseline="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202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60" r:id="rId4"/>
    <p:sldLayoutId id="2147483670" r:id="rId5"/>
    <p:sldLayoutId id="2147483668" r:id="rId6"/>
    <p:sldLayoutId id="2147483669" r:id="rId7"/>
    <p:sldLayoutId id="2147483667" r:id="rId8"/>
    <p:sldLayoutId id="2147483666" r:id="rId9"/>
    <p:sldLayoutId id="2147483665" r:id="rId10"/>
    <p:sldLayoutId id="2147483653" r:id="rId11"/>
    <p:sldLayoutId id="2147483664" r:id="rId12"/>
    <p:sldLayoutId id="2147483671" r:id="rId13"/>
    <p:sldLayoutId id="2147483663" r:id="rId14"/>
    <p:sldLayoutId id="2147483662" r:id="rId15"/>
    <p:sldLayoutId id="2147483654" r:id="rId16"/>
    <p:sldLayoutId id="214748365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66928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50392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33856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17320" indent="-283464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B8B4B-9A7D-75D4-BF6B-7CF7D04EB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FDCF9225-4A7C-25B0-9F40-88A40A5F80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95544" y="731520"/>
            <a:ext cx="5952744" cy="1645920"/>
          </a:xfr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kern="1200" dirty="0">
                <a:cs typeface="Times New Roman" panose="02020603050405020304" pitchFamily="18" charset="0"/>
              </a:rPr>
              <a:t>Online Retail Data Mining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1047CE5C-CFF5-8DB7-1CF7-0DA3F6AD7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881969"/>
            <a:ext cx="4872540" cy="3094062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1"/>
            </a:solidFill>
          </a:ln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88AEAB5C-99D8-5AE6-0EDE-B9FC9C98FC41}"/>
              </a:ext>
            </a:extLst>
          </p:cNvPr>
          <p:cNvSpPr txBox="1">
            <a:spLocks/>
          </p:cNvSpPr>
          <p:nvPr/>
        </p:nvSpPr>
        <p:spPr>
          <a:xfrm>
            <a:off x="5495545" y="3191256"/>
            <a:ext cx="5953506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000" kern="1200" baseline="0" dirty="0">
                <a:latin typeface="+mn-lt"/>
                <a:ea typeface="+mn-ea"/>
                <a:cs typeface="Times New Roman" panose="02020603050405020304" pitchFamily="18" charset="0"/>
              </a:rPr>
              <a:t>A Data-Driven Study Using Association Rule Mining, Clustering and Classification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FFFBCC57-244B-3151-0FBB-ECFCF8A2EC78}"/>
              </a:ext>
            </a:extLst>
          </p:cNvPr>
          <p:cNvSpPr txBox="1">
            <a:spLocks/>
          </p:cNvSpPr>
          <p:nvPr/>
        </p:nvSpPr>
        <p:spPr>
          <a:xfrm>
            <a:off x="5494782" y="4498848"/>
            <a:ext cx="5953506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000" kern="1200">
                <a:solidFill>
                  <a:schemeClr val="accent1"/>
                </a:solidFill>
                <a:latin typeface="Gill Sans Nova Light" panose="020B0302020104020203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200" b="1" kern="1200" baseline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Rishabh Bhattad &amp; Khushi Chavan 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endParaRPr lang="en-US" sz="2200" kern="1200" baseline="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Subtitle 3">
            <a:extLst>
              <a:ext uri="{FF2B5EF4-FFF2-40B4-BE49-F238E27FC236}">
                <a16:creationId xmlns:a16="http://schemas.microsoft.com/office/drawing/2014/main" id="{3785F348-7CE5-D109-7DB3-9F0C8886224A}"/>
              </a:ext>
            </a:extLst>
          </p:cNvPr>
          <p:cNvSpPr txBox="1">
            <a:spLocks/>
          </p:cNvSpPr>
          <p:nvPr/>
        </p:nvSpPr>
        <p:spPr>
          <a:xfrm>
            <a:off x="5494782" y="5797296"/>
            <a:ext cx="5953506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3464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0392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3856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1732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kern="1200" baseline="0" dirty="0">
                <a:cs typeface="Times New Roman" panose="02020603050405020304" pitchFamily="18" charset="0"/>
              </a:rPr>
              <a:t>A presentation by Group 4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sz="2400" kern="1200" baseline="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456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832D1-90AA-F55C-089A-DE1C123C2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1E1B3E-84B4-AA3B-B01B-563CBBB4BE11}"/>
              </a:ext>
            </a:extLst>
          </p:cNvPr>
          <p:cNvSpPr txBox="1"/>
          <p:nvPr/>
        </p:nvSpPr>
        <p:spPr>
          <a:xfrm>
            <a:off x="987552" y="1444752"/>
            <a:ext cx="5048250" cy="4562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3464" indent="-283464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200" kern="1200" dirty="0"/>
              <a:t>The Online Retail dataset from Kaggle contains thousands of customer transactions from a UK-based retailer.</a:t>
            </a:r>
          </a:p>
          <a:p>
            <a:pPr marL="283464" indent="-283464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200" kern="1200" dirty="0"/>
              <a:t>Explored customer purchasing behavior using data mining techniques such as Association Rule Mining, Customer Clustering, and Predictive Classification.</a:t>
            </a:r>
          </a:p>
          <a:p>
            <a:pPr marL="283464" indent="-283464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200" kern="1200" dirty="0"/>
              <a:t>Our goal was to understand what customers buy together, how they group naturally, and what factors predict high-value customers.</a:t>
            </a:r>
          </a:p>
        </p:txBody>
      </p:sp>
      <p:pic>
        <p:nvPicPr>
          <p:cNvPr id="2054" name="Picture 6" descr="Online Retail Exploratory Data Analysis with Python | by Raymond Davila |  Medium">
            <a:extLst>
              <a:ext uri="{FF2B5EF4-FFF2-40B4-BE49-F238E27FC236}">
                <a16:creationId xmlns:a16="http://schemas.microsoft.com/office/drawing/2014/main" id="{C7014AB3-0D33-1EA0-BE6C-5CE146FD7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37" r="15155" b="-2"/>
          <a:stretch>
            <a:fillRect/>
          </a:stretch>
        </p:blipFill>
        <p:spPr bwMode="auto">
          <a:xfrm>
            <a:off x="6226302" y="1444752"/>
            <a:ext cx="5048250" cy="4562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921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BBD9FBF-BDEA-E2A9-5AC0-F365EF1CA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Research Question?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553D2B-6288-BC26-8F52-5C93B72B0C0B}"/>
              </a:ext>
            </a:extLst>
          </p:cNvPr>
          <p:cNvSpPr txBox="1"/>
          <p:nvPr/>
        </p:nvSpPr>
        <p:spPr>
          <a:xfrm>
            <a:off x="987552" y="1444752"/>
            <a:ext cx="10287000" cy="4562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3464" indent="-283464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800" dirty="0"/>
              <a:t>Association Rules → What items are commonly bought together?</a:t>
            </a:r>
          </a:p>
          <a:p>
            <a:pPr marL="283464" indent="-283464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283464" indent="-283464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800" dirty="0"/>
              <a:t>Clustering → Can we group customers based on their purchasing habits?</a:t>
            </a:r>
          </a:p>
          <a:p>
            <a:pPr marL="283464" indent="-283464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283464" indent="-283464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800" dirty="0"/>
              <a:t>Classification → Can we predict whether a customer is high-value or not?</a:t>
            </a:r>
          </a:p>
          <a:p>
            <a:pPr marL="283464" indent="-283464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01214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25C77-8B4F-F7AC-30A6-9C3DED011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latin typeface="+mj-lt"/>
                <a:ea typeface="+mj-ea"/>
                <a:cs typeface="+mj-cs"/>
              </a:rPr>
              <a:t>Dataset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2F970-55BC-44F1-CBEA-E8E0B0DF81E1}"/>
              </a:ext>
            </a:extLst>
          </p:cNvPr>
          <p:cNvSpPr txBox="1"/>
          <p:nvPr/>
        </p:nvSpPr>
        <p:spPr>
          <a:xfrm>
            <a:off x="987552" y="1444752"/>
            <a:ext cx="10287000" cy="456285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3464" indent="-283464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Source: Kaggle Online Retail Dataset</a:t>
            </a:r>
          </a:p>
          <a:p>
            <a:pPr marL="283464" indent="-283464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283464" indent="-283464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Time Period: 2010–2011</a:t>
            </a:r>
          </a:p>
          <a:p>
            <a:pPr marL="283464" indent="-283464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283464" indent="-283464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Original Size: 541,909 transactions</a:t>
            </a:r>
          </a:p>
          <a:p>
            <a:pPr marL="283464" indent="-283464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283464" indent="-283464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Variables include:</a:t>
            </a:r>
          </a:p>
          <a:p>
            <a:pPr lvl="2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2400" dirty="0"/>
              <a:t>Invoice No., Product Code, Description</a:t>
            </a:r>
          </a:p>
          <a:p>
            <a:pPr lvl="2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2400" dirty="0"/>
              <a:t>Quantity, Unit Price, Invoice Date</a:t>
            </a:r>
          </a:p>
          <a:p>
            <a:pPr lvl="2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2400" dirty="0"/>
              <a:t>Customer ID, Country</a:t>
            </a:r>
          </a:p>
        </p:txBody>
      </p:sp>
    </p:spTree>
    <p:extLst>
      <p:ext uri="{BB962C8B-B14F-4D97-AF65-F5344CB8AC3E}">
        <p14:creationId xmlns:p14="http://schemas.microsoft.com/office/powerpoint/2010/main" val="2585890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5DB01B-1C1F-D7BD-29DF-E0D832534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5587-C340-948F-F24A-367A81945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BASIC DATA</a:t>
            </a:r>
            <a:r>
              <a:rPr lang="en-US" kern="1200">
                <a:latin typeface="+mj-lt"/>
                <a:ea typeface="+mj-ea"/>
                <a:cs typeface="+mj-cs"/>
              </a:rPr>
              <a:t> </a:t>
            </a:r>
            <a:r>
              <a:rPr lang="en-US" kern="1200" dirty="0">
                <a:latin typeface="+mj-lt"/>
                <a:ea typeface="+mj-ea"/>
                <a:cs typeface="+mj-cs"/>
              </a:rPr>
              <a:t>CLEANING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F13602-BE30-A197-7135-F89C83F7885D}"/>
              </a:ext>
            </a:extLst>
          </p:cNvPr>
          <p:cNvSpPr txBox="1"/>
          <p:nvPr/>
        </p:nvSpPr>
        <p:spPr>
          <a:xfrm>
            <a:off x="987552" y="1444752"/>
            <a:ext cx="10287000" cy="456285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3464" marR="0" lvl="0" indent="-283464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2400" dirty="0"/>
              <a:t>summary() gives min, max, median of numeric columns and counts of categories in text columns.</a:t>
            </a:r>
          </a:p>
          <a:p>
            <a:pPr marL="283464" marR="0" lvl="0" indent="-283464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IN" sz="2400" dirty="0"/>
          </a:p>
          <a:p>
            <a:pPr marL="283464" marR="0" lvl="0" indent="-283464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2400" dirty="0"/>
              <a:t>It also helps you spot: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Negative prices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Negative quantities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/>
              <a:t>Missing Customer IDs</a:t>
            </a:r>
          </a:p>
          <a:p>
            <a:pPr lvl="1"/>
            <a:endParaRPr lang="en-IN" sz="2400" dirty="0"/>
          </a:p>
          <a:p>
            <a:pPr marL="342900" indent="-342900">
              <a:buFont typeface="Wingdings" pitchFamily="2" charset="2"/>
              <a:buChar char="§"/>
            </a:pPr>
            <a:r>
              <a:rPr lang="en-IN" sz="2400" dirty="0"/>
              <a:t>sum(</a:t>
            </a:r>
            <a:r>
              <a:rPr lang="en-IN" sz="2400" dirty="0" err="1"/>
              <a:t>is.na</a:t>
            </a:r>
            <a:r>
              <a:rPr lang="en-IN" sz="2400" dirty="0"/>
              <a:t>()) counts how many customer IDs are missing.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46043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071A27-C3DF-1419-5693-524A36BF4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14CF-9103-4652-A495-50DC453E3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Data CLEANING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008A7C-A2BC-ACD1-8727-A72614935168}"/>
              </a:ext>
            </a:extLst>
          </p:cNvPr>
          <p:cNvSpPr txBox="1"/>
          <p:nvPr/>
        </p:nvSpPr>
        <p:spPr>
          <a:xfrm>
            <a:off x="987552" y="1444752"/>
            <a:ext cx="10287000" cy="456285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r>
              <a:rPr lang="en-IN" sz="2400" dirty="0"/>
              <a:t>Filtered out: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Missing </a:t>
            </a:r>
            <a:r>
              <a:rPr lang="en-IN" sz="2400" dirty="0" err="1"/>
              <a:t>CustomerID</a:t>
            </a:r>
            <a:endParaRPr lang="en-IN" sz="2400" dirty="0"/>
          </a:p>
          <a:p>
            <a:pPr marL="457200" indent="-457200">
              <a:buFont typeface="+mj-lt"/>
              <a:buAutoNum type="arabicPeriod"/>
            </a:pPr>
            <a:endParaRPr lang="en-IN" sz="2400" dirty="0"/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Negative or zero Quantity and </a:t>
            </a:r>
            <a:r>
              <a:rPr lang="en-IN" sz="2400" dirty="0" err="1"/>
              <a:t>UnitPrice</a:t>
            </a:r>
            <a:endParaRPr lang="en-IN" sz="2400" dirty="0"/>
          </a:p>
          <a:p>
            <a:pPr marL="457200" indent="-457200">
              <a:buFont typeface="+mj-lt"/>
              <a:buAutoNum type="arabicPeriod"/>
            </a:pPr>
            <a:endParaRPr lang="en-IN" sz="2400" dirty="0"/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Cancelled invoices (</a:t>
            </a:r>
            <a:r>
              <a:rPr lang="en-IN" sz="2400" dirty="0" err="1"/>
              <a:t>InvoiceNo</a:t>
            </a:r>
            <a:r>
              <a:rPr lang="en-IN" sz="2400" dirty="0"/>
              <a:t> starting with “C”)</a:t>
            </a:r>
          </a:p>
          <a:p>
            <a:pPr marL="457200" indent="-457200">
              <a:buFont typeface="+mj-lt"/>
              <a:buAutoNum type="arabicPeriod"/>
            </a:pPr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Dataset reduced to 397,884 valid transactions.</a:t>
            </a:r>
          </a:p>
          <a:p>
            <a:r>
              <a:rPr lang="en-IN" sz="2400" dirty="0"/>
              <a:t>All rows now contain positive quantities and valid prices.</a:t>
            </a:r>
          </a:p>
        </p:txBody>
      </p:sp>
    </p:spTree>
    <p:extLst>
      <p:ext uri="{BB962C8B-B14F-4D97-AF65-F5344CB8AC3E}">
        <p14:creationId xmlns:p14="http://schemas.microsoft.com/office/powerpoint/2010/main" val="1239673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089669-973A-08CA-AD11-7C75E417C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40E40-4C67-9172-A92F-47F41394B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FEATURE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38DBEA-91E7-5F0D-F6A6-D7AA94BEEF90}"/>
              </a:ext>
            </a:extLst>
          </p:cNvPr>
          <p:cNvSpPr txBox="1"/>
          <p:nvPr/>
        </p:nvSpPr>
        <p:spPr>
          <a:xfrm>
            <a:off x="987552" y="1444752"/>
            <a:ext cx="10370838" cy="456285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/>
              <a:t>Converted invoice dates into proper datetime format.</a:t>
            </a:r>
          </a:p>
          <a:p>
            <a:pPr marL="457200" indent="-457200">
              <a:buFont typeface="+mj-lt"/>
              <a:buAutoNum type="arabicPeriod"/>
            </a:pPr>
            <a:endParaRPr lang="en-IN" sz="2400" dirty="0"/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Extracted </a:t>
            </a:r>
            <a:r>
              <a:rPr lang="en-IN" sz="2400" dirty="0" err="1"/>
              <a:t>InvoiceYear</a:t>
            </a:r>
            <a:r>
              <a:rPr lang="en-IN" sz="2400" dirty="0"/>
              <a:t>, </a:t>
            </a:r>
            <a:r>
              <a:rPr lang="en-IN" sz="2400" dirty="0" err="1"/>
              <a:t>InvoiceMonth</a:t>
            </a:r>
            <a:r>
              <a:rPr lang="en-IN" sz="2400" dirty="0"/>
              <a:t>, and </a:t>
            </a:r>
            <a:r>
              <a:rPr lang="en-IN" sz="2400" dirty="0" err="1"/>
              <a:t>TotalPrice</a:t>
            </a:r>
            <a:r>
              <a:rPr lang="en-IN" sz="2400" dirty="0"/>
              <a:t> (Quantity × </a:t>
            </a:r>
            <a:r>
              <a:rPr lang="en-IN" sz="2400" dirty="0" err="1"/>
              <a:t>UnitPrice</a:t>
            </a:r>
            <a:r>
              <a:rPr lang="en-IN" sz="2400" dirty="0"/>
              <a:t>).</a:t>
            </a:r>
          </a:p>
          <a:p>
            <a:pPr marL="457200" indent="-457200">
              <a:buFont typeface="+mj-lt"/>
              <a:buAutoNum type="arabicPeriod"/>
            </a:pPr>
            <a:endParaRPr lang="en-IN" sz="2400" dirty="0"/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Prepared customer-level aggregated features (total spent, total qty, number of orders, average items per order, recency).</a:t>
            </a:r>
          </a:p>
          <a:p>
            <a:endParaRPr lang="en-IN" sz="2400" dirty="0"/>
          </a:p>
          <a:p>
            <a:r>
              <a:rPr lang="en-IN" sz="2400" dirty="0"/>
              <a:t>Produces customer-level dataset with 4338 unique customers.</a:t>
            </a:r>
          </a:p>
        </p:txBody>
      </p:sp>
    </p:spTree>
    <p:extLst>
      <p:ext uri="{BB962C8B-B14F-4D97-AF65-F5344CB8AC3E}">
        <p14:creationId xmlns:p14="http://schemas.microsoft.com/office/powerpoint/2010/main" val="2211247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D8AC8D-2E23-2F28-83C6-6FDE24211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16035-FDA5-02F8-6F9B-DBC76E533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/>
              <a:t>EXPLORATORY DATA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C4C67B-3AC2-8F4F-963C-48D40FAA2A93}"/>
              </a:ext>
            </a:extLst>
          </p:cNvPr>
          <p:cNvSpPr txBox="1"/>
          <p:nvPr/>
        </p:nvSpPr>
        <p:spPr>
          <a:xfrm>
            <a:off x="6226302" y="1444752"/>
            <a:ext cx="5048250" cy="456285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3464" indent="-283464">
              <a:spcBef>
                <a:spcPts val="1000"/>
              </a:spcBef>
              <a:buFont typeface="Wingdings" panose="05000000000000000000" pitchFamily="2" charset="2"/>
              <a:buChar char="§"/>
            </a:pPr>
            <a:endParaRPr lang="en-US" sz="2800" kern="1200" dirty="0"/>
          </a:p>
          <a:p>
            <a:pPr marL="283464" indent="-283464">
              <a:spcBef>
                <a:spcPts val="1000"/>
              </a:spcBef>
              <a:buFont typeface="Wingdings" panose="05000000000000000000" pitchFamily="2" charset="2"/>
              <a:buChar char="§"/>
            </a:pPr>
            <a:endParaRPr lang="en-US" sz="2800" kern="1200" dirty="0"/>
          </a:p>
          <a:p>
            <a:pPr marL="283464" indent="-283464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800" kern="1200" dirty="0"/>
              <a:t>Identify top countries by revenue.</a:t>
            </a:r>
          </a:p>
          <a:p>
            <a:pPr marL="283464" indent="-283464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800" kern="1200" dirty="0"/>
              <a:t>Conclusion - UK was the largest contributor by a wide margin.</a:t>
            </a:r>
          </a:p>
        </p:txBody>
      </p:sp>
      <p:pic>
        <p:nvPicPr>
          <p:cNvPr id="4" name="Picture 3" descr="A graph with green bars&#10;&#10;AI-generated content may be incorrect.">
            <a:extLst>
              <a:ext uri="{FF2B5EF4-FFF2-40B4-BE49-F238E27FC236}">
                <a16:creationId xmlns:a16="http://schemas.microsoft.com/office/drawing/2014/main" id="{AC25E39D-E3C2-8BB8-7D0B-2978B7EF9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23" y="1615835"/>
            <a:ext cx="5627587" cy="422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561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14A7F9-CCC0-B802-425E-59F26C644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4EB44-87B2-8573-5228-1A431DF76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/>
              <a:t>EXPLORATORY DATA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4A5F-C984-EC15-0FA5-B20A237F1DFD}"/>
              </a:ext>
            </a:extLst>
          </p:cNvPr>
          <p:cNvSpPr txBox="1"/>
          <p:nvPr/>
        </p:nvSpPr>
        <p:spPr>
          <a:xfrm>
            <a:off x="6226302" y="1444752"/>
            <a:ext cx="5048250" cy="456285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3464" indent="-283464">
              <a:spcBef>
                <a:spcPts val="1000"/>
              </a:spcBef>
              <a:buFont typeface="Wingdings" panose="05000000000000000000" pitchFamily="2" charset="2"/>
              <a:buChar char="§"/>
            </a:pPr>
            <a:endParaRPr lang="en-US" sz="2800" kern="1200" dirty="0"/>
          </a:p>
          <a:p>
            <a:pPr marL="283464" indent="-283464">
              <a:spcBef>
                <a:spcPts val="1000"/>
              </a:spcBef>
              <a:buFont typeface="Wingdings" panose="05000000000000000000" pitchFamily="2" charset="2"/>
              <a:buChar char="§"/>
            </a:pPr>
            <a:endParaRPr lang="en-US" sz="2800" kern="1200" dirty="0"/>
          </a:p>
          <a:p>
            <a:pPr marL="283464" indent="-283464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800" kern="1200" dirty="0"/>
              <a:t>Find top-selling products.</a:t>
            </a:r>
          </a:p>
          <a:p>
            <a:pPr marL="283464" indent="-283464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800" kern="1200" dirty="0"/>
              <a:t>Conclusion – Products like Paper craft, T-Light holders and gift items topped the revenue charts.</a:t>
            </a:r>
          </a:p>
        </p:txBody>
      </p:sp>
      <p:pic>
        <p:nvPicPr>
          <p:cNvPr id="6" name="Picture 5" descr="A graph of green bars&#10;&#10;AI-generated content may be incorrect.">
            <a:extLst>
              <a:ext uri="{FF2B5EF4-FFF2-40B4-BE49-F238E27FC236}">
                <a16:creationId xmlns:a16="http://schemas.microsoft.com/office/drawing/2014/main" id="{839D9331-F801-16F2-372E-93D575FA3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51" y="1676074"/>
            <a:ext cx="5466949" cy="41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893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2FF396-75DE-887B-E9C9-074927DD1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F99C-6A1E-00A6-EE40-973D5E24A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/>
              <a:t>EXPLORATORY DATA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D66425-7CCC-0366-EA45-AEE6145818EF}"/>
              </a:ext>
            </a:extLst>
          </p:cNvPr>
          <p:cNvSpPr txBox="1"/>
          <p:nvPr/>
        </p:nvSpPr>
        <p:spPr>
          <a:xfrm>
            <a:off x="6226302" y="1444752"/>
            <a:ext cx="5048250" cy="456285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3464" indent="-283464">
              <a:spcBef>
                <a:spcPts val="1000"/>
              </a:spcBef>
              <a:buFont typeface="Wingdings" panose="05000000000000000000" pitchFamily="2" charset="2"/>
              <a:buChar char="§"/>
            </a:pPr>
            <a:endParaRPr lang="en-US" sz="2800" kern="1200" dirty="0"/>
          </a:p>
          <a:p>
            <a:pPr marL="283464" indent="-283464">
              <a:spcBef>
                <a:spcPts val="1000"/>
              </a:spcBef>
              <a:buFont typeface="Wingdings" panose="05000000000000000000" pitchFamily="2" charset="2"/>
              <a:buChar char="§"/>
            </a:pPr>
            <a:endParaRPr lang="en-US" sz="2800" kern="1200" dirty="0"/>
          </a:p>
          <a:p>
            <a:pPr marL="283464" indent="-283464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800" kern="1200" dirty="0"/>
              <a:t>Analyze monthly revenue patterns.</a:t>
            </a:r>
          </a:p>
          <a:p>
            <a:pPr marL="283464" indent="-283464"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800" kern="1200" dirty="0"/>
              <a:t>Conclusion – Monthly revenue shows noticeable seasonal trends.</a:t>
            </a:r>
          </a:p>
        </p:txBody>
      </p:sp>
      <p:pic>
        <p:nvPicPr>
          <p:cNvPr id="6" name="Picture 5" descr="A graph showing the growth of a company&#10;&#10;AI-generated content may be incorrect.">
            <a:extLst>
              <a:ext uri="{FF2B5EF4-FFF2-40B4-BE49-F238E27FC236}">
                <a16:creationId xmlns:a16="http://schemas.microsoft.com/office/drawing/2014/main" id="{96C8980C-178D-43B0-0B62-D05A943BB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88" y="1444752"/>
            <a:ext cx="5704114" cy="427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999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CB89E5-F227-BD36-4D5C-D9B107B90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11FA0-B4AF-0AF5-B467-36E684EB9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Apriori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63CE5-2E94-32C3-5216-BEF8741D5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Apriori</a:t>
            </a:r>
            <a:r>
              <a:rPr lang="en-US" dirty="0"/>
              <a:t> algorithm finds frequent </a:t>
            </a:r>
            <a:r>
              <a:rPr lang="en-US" dirty="0" err="1"/>
              <a:t>itemsets</a:t>
            </a:r>
            <a:r>
              <a:rPr lang="en-US" dirty="0"/>
              <a:t> (products that appear together) and then generates association rules.</a:t>
            </a:r>
          </a:p>
          <a:p>
            <a:r>
              <a:rPr lang="en-US" dirty="0"/>
              <a:t>Implementation – </a:t>
            </a:r>
          </a:p>
          <a:p>
            <a:pPr marL="797814" lvl="1" indent="-514350">
              <a:buFont typeface="+mj-lt"/>
              <a:buAutoNum type="arabicPeriod"/>
            </a:pPr>
            <a:r>
              <a:rPr lang="en-IN" dirty="0"/>
              <a:t>Filter dataset to only UK transactions to reduce noise.</a:t>
            </a:r>
          </a:p>
          <a:p>
            <a:pPr marL="797814" lvl="1" indent="-514350">
              <a:buFont typeface="+mj-lt"/>
              <a:buAutoNum type="arabicPeriod"/>
            </a:pPr>
            <a:r>
              <a:rPr lang="en-IN" dirty="0"/>
              <a:t>Convert each invoice into basket of items.</a:t>
            </a:r>
          </a:p>
          <a:p>
            <a:pPr marL="797814" lvl="1" indent="-514350">
              <a:buFont typeface="+mj-lt"/>
              <a:buAutoNum type="arabicPeriod"/>
            </a:pPr>
            <a:r>
              <a:rPr lang="en-IN" dirty="0"/>
              <a:t>Set parameters:</a:t>
            </a:r>
          </a:p>
          <a:p>
            <a:pPr lvl="2"/>
            <a:r>
              <a:rPr lang="en-IN" dirty="0"/>
              <a:t>Support = 0.001 → itemset must appear in 0.1% of all baskets</a:t>
            </a:r>
          </a:p>
          <a:p>
            <a:pPr lvl="2"/>
            <a:r>
              <a:rPr lang="en-IN" dirty="0"/>
              <a:t>Confidence = 0.5 → rule must be correct at least 50% of the time</a:t>
            </a:r>
          </a:p>
          <a:p>
            <a:pPr lvl="2"/>
            <a:r>
              <a:rPr lang="en-IN" dirty="0" err="1"/>
              <a:t>minlen</a:t>
            </a:r>
            <a:r>
              <a:rPr lang="en-IN" dirty="0"/>
              <a:t> = 2 → rules must contain at least two items</a:t>
            </a:r>
          </a:p>
          <a:p>
            <a:pPr marL="797814" lvl="1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3240CC-5215-5C53-49C6-ACABEFA0B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281" y="4986014"/>
            <a:ext cx="6814164" cy="133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841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AFEFE0-DEB9-1BB3-AC76-35DDF17E8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91575-7FA8-F989-22BE-0468FD238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3853" y="66046"/>
            <a:ext cx="8741664" cy="969264"/>
          </a:xfrm>
        </p:spPr>
        <p:txBody>
          <a:bodyPr/>
          <a:lstStyle/>
          <a:p>
            <a:r>
              <a:rPr lang="en-US" sz="3600" dirty="0"/>
              <a:t>RESULTS OF </a:t>
            </a:r>
            <a:r>
              <a:rPr lang="en-US" sz="3600" dirty="0" err="1"/>
              <a:t>Apriori</a:t>
            </a:r>
            <a:r>
              <a:rPr lang="en-US" sz="3600" dirty="0"/>
              <a:t>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DE6BE-C4BB-1238-3061-C956AAB1C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Generated 906,803 rules, meaning the dataset is dense with product combinations.</a:t>
            </a:r>
          </a:p>
          <a:p>
            <a:endParaRPr lang="en-IN" dirty="0"/>
          </a:p>
          <a:p>
            <a:r>
              <a:rPr lang="en-IN" dirty="0"/>
              <a:t>Top rules had extremely high lift (e.g., above 700), indicating very strong relationships.</a:t>
            </a:r>
          </a:p>
          <a:p>
            <a:endParaRPr lang="en-IN" dirty="0"/>
          </a:p>
          <a:p>
            <a:r>
              <a:rPr lang="en-IN" dirty="0"/>
              <a:t>Many rules involved similar product families (e.g., egg cosy, pantry tools, dish sets).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914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6C5D4D9-63AF-196F-4353-C8565B44E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807" y="63573"/>
            <a:ext cx="9238488" cy="969264"/>
          </a:xfrm>
        </p:spPr>
        <p:txBody>
          <a:bodyPr/>
          <a:lstStyle/>
          <a:p>
            <a:br>
              <a:rPr lang="en-US" sz="3600" dirty="0"/>
            </a:br>
            <a:r>
              <a:rPr lang="en-US" sz="3600" dirty="0"/>
              <a:t>Top 15 association rules by lift</a:t>
            </a:r>
            <a:br>
              <a:rPr lang="en-US" sz="3600" dirty="0"/>
            </a:br>
            <a:endParaRPr lang="en-US" sz="3600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C470B6-D472-7941-304D-8DD316CCC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851" y="1159346"/>
            <a:ext cx="7772400" cy="55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298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D2A972-BA40-1DCF-C115-67446B61E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53388-D326-F126-5221-BE35A7914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ECLAT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A0979-1824-7B7E-88D8-B2AC82EFD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ECLAT only finds frequent </a:t>
            </a:r>
            <a:r>
              <a:rPr lang="en-US" dirty="0" err="1"/>
              <a:t>itemsets</a:t>
            </a:r>
            <a:r>
              <a:rPr lang="en-US" dirty="0"/>
              <a:t>, not full rules (no lift / confidence).</a:t>
            </a:r>
          </a:p>
          <a:p>
            <a:r>
              <a:rPr lang="en-US" dirty="0"/>
              <a:t>Implementation – </a:t>
            </a:r>
          </a:p>
          <a:p>
            <a:pPr marL="797814" lvl="1" indent="-514350">
              <a:buFont typeface="+mj-lt"/>
              <a:buAutoNum type="arabicPeriod"/>
            </a:pPr>
            <a:r>
              <a:rPr lang="en-IN" dirty="0"/>
              <a:t>Filter dataset to only UK transactions to reduce noise.</a:t>
            </a:r>
          </a:p>
          <a:p>
            <a:pPr marL="797814" lvl="1" indent="-514350">
              <a:buFont typeface="+mj-lt"/>
              <a:buAutoNum type="arabicPeriod"/>
            </a:pPr>
            <a:r>
              <a:rPr lang="en-IN" dirty="0"/>
              <a:t>Convert each invoice into basket of items.</a:t>
            </a:r>
            <a:endParaRPr lang="en-US" dirty="0"/>
          </a:p>
          <a:p>
            <a:pPr marL="797814" lvl="1" indent="-514350">
              <a:buFont typeface="+mj-lt"/>
              <a:buAutoNum type="arabicPeriod"/>
            </a:pPr>
            <a:r>
              <a:rPr lang="en-IN" dirty="0"/>
              <a:t>Set parameters:</a:t>
            </a:r>
          </a:p>
          <a:p>
            <a:pPr lvl="2"/>
            <a:r>
              <a:rPr lang="en-IN" dirty="0"/>
              <a:t>Support = 0.001 → itemset must appear in 0.1% of all baskets</a:t>
            </a:r>
          </a:p>
          <a:p>
            <a:pPr lvl="2"/>
            <a:r>
              <a:rPr lang="en-IN" dirty="0" err="1"/>
              <a:t>minlen</a:t>
            </a:r>
            <a:r>
              <a:rPr lang="en-IN" dirty="0"/>
              <a:t> = 2 → rules must contain at least two items</a:t>
            </a:r>
          </a:p>
          <a:p>
            <a:pPr marL="797814" lvl="1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pic>
        <p:nvPicPr>
          <p:cNvPr id="8" name="Picture 7" descr="A math equations with numbers&#10;&#10;AI-generated content may be incorrect.">
            <a:extLst>
              <a:ext uri="{FF2B5EF4-FFF2-40B4-BE49-F238E27FC236}">
                <a16:creationId xmlns:a16="http://schemas.microsoft.com/office/drawing/2014/main" id="{FBADC2BF-1CD5-39BA-6287-A1D6E4B7F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189" y="4803273"/>
            <a:ext cx="5731542" cy="12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444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27E88C-336D-4874-0D27-3C20AFD76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78F4C-2811-519B-DF28-F2AB9C298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3853" y="66046"/>
            <a:ext cx="8741664" cy="969264"/>
          </a:xfrm>
        </p:spPr>
        <p:txBody>
          <a:bodyPr/>
          <a:lstStyle/>
          <a:p>
            <a:r>
              <a:rPr lang="en-US" sz="3600" dirty="0"/>
              <a:t>RESULTS OF ECLAT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DC5D2-6D11-0087-C6F6-59C163773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ECLAT produced ~323K frequent </a:t>
            </a:r>
            <a:r>
              <a:rPr lang="en-IN" dirty="0" err="1"/>
              <a:t>itemsets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These </a:t>
            </a:r>
            <a:r>
              <a:rPr lang="en-IN" dirty="0" err="1"/>
              <a:t>itemsets</a:t>
            </a:r>
            <a:r>
              <a:rPr lang="en-IN" dirty="0"/>
              <a:t> showed pairs like:</a:t>
            </a:r>
          </a:p>
          <a:p>
            <a:pPr lvl="1"/>
            <a:r>
              <a:rPr lang="en-IN" dirty="0"/>
              <a:t>Para­sol items</a:t>
            </a:r>
          </a:p>
          <a:p>
            <a:pPr lvl="1"/>
            <a:r>
              <a:rPr lang="en-IN" dirty="0"/>
              <a:t>Tea/coffee container pairs</a:t>
            </a:r>
          </a:p>
          <a:p>
            <a:pPr lvl="1"/>
            <a:r>
              <a:rPr lang="en-IN" dirty="0"/>
              <a:t>Wall clocks in matching themes</a:t>
            </a:r>
          </a:p>
          <a:p>
            <a:pPr lvl="1"/>
            <a:endParaRPr lang="en-IN" dirty="0"/>
          </a:p>
          <a:p>
            <a:r>
              <a:rPr lang="en-IN" dirty="0"/>
              <a:t>These make sense because customers often buy complementary designs.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480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8E0ED-D920-5410-2669-762E0C14D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F5160A9-7445-655D-3B32-D25105363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 anchor="ctr">
            <a:noAutofit/>
          </a:bodyPr>
          <a:lstStyle/>
          <a:p>
            <a:br>
              <a:rPr lang="en-US" sz="3600" dirty="0"/>
            </a:br>
            <a:r>
              <a:rPr lang="en-US" sz="3600" dirty="0"/>
              <a:t>Top 15 ECLAT rules by SUPPORT</a:t>
            </a:r>
            <a:br>
              <a:rPr lang="en-US" sz="3600" dirty="0"/>
            </a:br>
            <a:endParaRPr lang="en-US" sz="3600" dirty="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5C71208D-D2E9-8EEA-6EDF-0EAE820D2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35743"/>
            <a:ext cx="7772400" cy="55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732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1D2F1A-4BE8-7DB6-34B3-B241554ED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33CDD-DDF4-3D64-D4AE-1DDA229C9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02284-24C7-3670-B950-E154385F5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K-Means partitions customers into k groups by minimizing the total distance between each point and its assigned cluster center.</a:t>
            </a:r>
          </a:p>
          <a:p>
            <a:r>
              <a:rPr lang="en-US" dirty="0"/>
              <a:t>Distance is measured using Euclidean distance on the scaled and log-transformed features, and clusters are iteratively refined as points shift to the nearest centroid until the segments stabilize.</a:t>
            </a:r>
          </a:p>
          <a:p>
            <a:r>
              <a:rPr lang="en-US" dirty="0"/>
              <a:t>Implementation – </a:t>
            </a:r>
          </a:p>
          <a:p>
            <a:pPr marL="797814" lvl="1" indent="-514350">
              <a:buFont typeface="+mj-lt"/>
              <a:buAutoNum type="arabicPeriod"/>
            </a:pPr>
            <a:r>
              <a:rPr lang="en-IN" dirty="0"/>
              <a:t>Before clustering, skewed features are log-transformed.</a:t>
            </a:r>
          </a:p>
          <a:p>
            <a:pPr marL="797814" lvl="1" indent="-514350">
              <a:buFont typeface="+mj-lt"/>
              <a:buAutoNum type="arabicPeriod"/>
            </a:pPr>
            <a:r>
              <a:rPr lang="en-IN" dirty="0"/>
              <a:t>Then, features were scaled so all variables contribute equally.</a:t>
            </a:r>
            <a:endParaRPr lang="en-US" dirty="0"/>
          </a:p>
          <a:p>
            <a:pPr marL="797814" lvl="1" indent="-514350">
              <a:buFont typeface="+mj-lt"/>
              <a:buAutoNum type="arabicPeriod"/>
            </a:pPr>
            <a:r>
              <a:rPr lang="en-IN" dirty="0"/>
              <a:t>K-Means was run with: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59B526-0F11-8160-B0A7-40860562A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770" y="5643768"/>
            <a:ext cx="6041331" cy="35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036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F10060-4010-1E66-51DA-4C9EFD6D1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930EA-2B0E-83AF-213D-8DA1383BD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 anchor="ctr">
            <a:normAutofit/>
          </a:bodyPr>
          <a:lstStyle/>
          <a:p>
            <a:r>
              <a:rPr lang="en-US" sz="3700" dirty="0"/>
              <a:t>RESULTS OF K-MEANS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8AF6E-8521-E514-10EC-BAD305BC8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6301" y="1444752"/>
            <a:ext cx="5346429" cy="4562856"/>
          </a:xfrm>
        </p:spPr>
        <p:txBody>
          <a:bodyPr>
            <a:normAutofit/>
          </a:bodyPr>
          <a:lstStyle/>
          <a:p>
            <a:r>
              <a:rPr lang="en-IN" dirty="0"/>
              <a:t>Three customer groups appear:</a:t>
            </a:r>
            <a:endParaRPr lang="en-IN" sz="2000" dirty="0"/>
          </a:p>
          <a:p>
            <a:pPr marL="740664" lvl="1" indent="-457200">
              <a:buFont typeface="+mj-lt"/>
              <a:buAutoNum type="arabicPeriod"/>
            </a:pPr>
            <a:r>
              <a:rPr lang="en-IN" sz="2000" dirty="0"/>
              <a:t>High-value Frequent Buyers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IN" sz="1400" dirty="0"/>
              <a:t>Spend a lot and buy often</a:t>
            </a:r>
          </a:p>
          <a:p>
            <a:pPr lvl="3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740664" lvl="1" indent="-457200">
              <a:buFont typeface="+mj-lt"/>
              <a:buAutoNum type="arabicPeriod"/>
            </a:pPr>
            <a:r>
              <a:rPr lang="en-IN" sz="2000" dirty="0"/>
              <a:t>Low-value Casual Buyers</a:t>
            </a:r>
          </a:p>
          <a:p>
            <a:pPr marL="1133856" marR="0" lvl="3" indent="-283464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Rare buyers</a:t>
            </a:r>
          </a:p>
          <a:p>
            <a:pPr marL="1133856" marR="0" lvl="3" indent="-283464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IN" sz="2000" dirty="0"/>
          </a:p>
          <a:p>
            <a:pPr marL="740664" lvl="1" indent="-457200">
              <a:buFont typeface="+mj-lt"/>
              <a:buAutoNum type="arabicPeriod"/>
            </a:pPr>
            <a:r>
              <a:rPr lang="en-IN" sz="2000" dirty="0"/>
              <a:t>Large Basket Buyers</a:t>
            </a:r>
          </a:p>
          <a:p>
            <a:pPr marL="1133856" marR="0" lvl="3" indent="-283464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Few orders but high quantities</a:t>
            </a:r>
          </a:p>
          <a:p>
            <a:pPr marL="283464" lvl="1" indent="0">
              <a:buNone/>
            </a:pPr>
            <a:endParaRPr lang="en-IN" sz="2000" dirty="0"/>
          </a:p>
        </p:txBody>
      </p:sp>
      <p:pic>
        <p:nvPicPr>
          <p:cNvPr id="6" name="Picture 5" descr="A graph showing a bar chart&#10;&#10;AI-generated content may be incorrect.">
            <a:extLst>
              <a:ext uri="{FF2B5EF4-FFF2-40B4-BE49-F238E27FC236}">
                <a16:creationId xmlns:a16="http://schemas.microsoft.com/office/drawing/2014/main" id="{DF95CDA2-79B6-FA2F-77DF-C4A023ED9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42" y="1301495"/>
            <a:ext cx="5463758" cy="409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84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857D18-6ABB-0AC3-9387-47DB2564F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8E9DF-B9DE-9C49-A03F-46C6FD2C1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PROFILING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A49AB-67E9-A5BD-0560-32EB1A1C9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grouping customers, cluster profiling interprets what makes each cluster different.</a:t>
            </a:r>
            <a:br>
              <a:rPr lang="en-US" dirty="0"/>
            </a:br>
            <a:endParaRPr lang="en-US" dirty="0"/>
          </a:p>
          <a:p>
            <a:r>
              <a:rPr lang="en-US" dirty="0"/>
              <a:t>Implementation – </a:t>
            </a:r>
          </a:p>
          <a:p>
            <a:pPr marL="797814" lvl="1" indent="-514350">
              <a:buFont typeface="+mj-lt"/>
              <a:buAutoNum type="arabicPeriod"/>
            </a:pPr>
            <a:r>
              <a:rPr lang="en-IN" dirty="0"/>
              <a:t>Join cluster labels back to original customer metrics.</a:t>
            </a:r>
          </a:p>
          <a:p>
            <a:pPr marL="797814" lvl="1" indent="-514350">
              <a:buFont typeface="+mj-lt"/>
              <a:buAutoNum type="arabicPeriod"/>
            </a:pPr>
            <a:r>
              <a:rPr lang="en-IN" dirty="0"/>
              <a:t>Calculate:</a:t>
            </a:r>
          </a:p>
          <a:p>
            <a:pPr lvl="3"/>
            <a:r>
              <a:rPr lang="en-IN" dirty="0"/>
              <a:t>Average total spent</a:t>
            </a:r>
          </a:p>
          <a:p>
            <a:pPr lvl="3"/>
            <a:r>
              <a:rPr lang="en-IN" dirty="0"/>
              <a:t>Average quantity</a:t>
            </a:r>
          </a:p>
          <a:p>
            <a:pPr lvl="3"/>
            <a:r>
              <a:rPr lang="en-IN" dirty="0"/>
              <a:t>Number of orders</a:t>
            </a:r>
          </a:p>
          <a:p>
            <a:pPr lvl="3"/>
            <a:r>
              <a:rPr lang="en-IN" dirty="0"/>
              <a:t>Average order value</a:t>
            </a:r>
          </a:p>
          <a:p>
            <a:pPr marL="797814" lvl="1" indent="-514350">
              <a:buFont typeface="+mj-lt"/>
              <a:buAutoNum type="arabicPeriod"/>
            </a:pPr>
            <a:r>
              <a:rPr lang="en-IN" dirty="0"/>
              <a:t>Used facet bar charts for comparison.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786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5CE38-6C53-A5B3-487D-9E6C53BC1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FB6070A-5BD0-A1EE-6F4B-3E4BC7105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 anchor="ctr">
            <a:normAutofit/>
          </a:bodyPr>
          <a:lstStyle/>
          <a:p>
            <a:r>
              <a:rPr lang="en-US"/>
              <a:t>CUSTOMER SEGMENT PROFILES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5C08B3-C233-DCA4-97C2-FE19A020A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1718" y="1489453"/>
            <a:ext cx="5048250" cy="4562856"/>
          </a:xfrm>
        </p:spPr>
        <p:txBody>
          <a:bodyPr>
            <a:normAutofit/>
          </a:bodyPr>
          <a:lstStyle/>
          <a:p>
            <a:pPr marL="283464" lvl="1" indent="0">
              <a:buNone/>
            </a:pPr>
            <a:endParaRPr lang="en-IN" dirty="0"/>
          </a:p>
          <a:p>
            <a:pPr lvl="1"/>
            <a:r>
              <a:rPr lang="en-IN" dirty="0"/>
              <a:t>High-Value buyers stand out with highest metrics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Casual buyers are minimal across all metrics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Large-Basket buyers purchase many items but not many times</a:t>
            </a:r>
            <a:endParaRPr kumimoji="0" lang="en-IN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283464" lvl="1" indent="0">
              <a:buNone/>
            </a:pPr>
            <a:endParaRPr lang="en-IN" sz="2800" dirty="0"/>
          </a:p>
        </p:txBody>
      </p:sp>
      <p:pic>
        <p:nvPicPr>
          <p:cNvPr id="3" name="Picture 2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B8EE2180-3574-E419-11A1-4E0976A79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32" y="1771654"/>
            <a:ext cx="6395961" cy="359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242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4F261D-2DC2-558E-FA06-F4E3603F1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A226-91DF-4247-7C84-10ADBCCDE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90B3D-5756-0154-C6A3-C5E20910F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Hierarchical clustering builds a tree-like structure and does not require specifying k upfront.</a:t>
            </a:r>
            <a:br>
              <a:rPr lang="en-US" dirty="0"/>
            </a:br>
            <a:endParaRPr lang="en-US" dirty="0"/>
          </a:p>
          <a:p>
            <a:r>
              <a:rPr lang="en-US" dirty="0"/>
              <a:t>Implementation – </a:t>
            </a:r>
          </a:p>
          <a:p>
            <a:pPr marL="797814" lvl="1" indent="-514350">
              <a:buFont typeface="+mj-lt"/>
              <a:buAutoNum type="arabicPeriod"/>
            </a:pPr>
            <a:r>
              <a:rPr lang="en-IN" dirty="0"/>
              <a:t>Before clustering, skewed features are log-transformed.</a:t>
            </a:r>
          </a:p>
          <a:p>
            <a:pPr marL="797814" lvl="1" indent="-514350">
              <a:buFont typeface="+mj-lt"/>
              <a:buAutoNum type="arabicPeriod"/>
            </a:pPr>
            <a:r>
              <a:rPr lang="en-IN" dirty="0"/>
              <a:t>Then, features were scaled so all variables contribute equally.</a:t>
            </a:r>
            <a:endParaRPr lang="en-US" dirty="0"/>
          </a:p>
          <a:p>
            <a:pPr marL="797814" lvl="1" indent="-514350">
              <a:buFont typeface="+mj-lt"/>
              <a:buAutoNum type="arabicPeriod"/>
            </a:pPr>
            <a:r>
              <a:rPr lang="en-IN" dirty="0"/>
              <a:t>Create a distance matrix using Euclidean distance formula.</a:t>
            </a:r>
          </a:p>
          <a:p>
            <a:pPr marL="797814" lvl="1" indent="-514350">
              <a:buFont typeface="+mj-lt"/>
              <a:buAutoNum type="arabicPeriod"/>
            </a:pPr>
            <a:r>
              <a:rPr lang="en-US" dirty="0"/>
              <a:t>Build a hierarchical model and cut into 3 clusters.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4032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FFF99E-DAAE-FA7B-DE4E-442DE5388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21AE6-0C01-2678-A7AC-BA23880D5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9794" y="91934"/>
            <a:ext cx="8612412" cy="969264"/>
          </a:xfrm>
        </p:spPr>
        <p:txBody>
          <a:bodyPr anchor="ctr">
            <a:normAutofit fontScale="90000"/>
          </a:bodyPr>
          <a:lstStyle/>
          <a:p>
            <a:r>
              <a:rPr lang="en-US" sz="3700" dirty="0"/>
              <a:t>OUTPUT OF HIERARCHICAL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71B86-E5B6-9E3F-A288-B8DF2F978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3321" y="2564667"/>
            <a:ext cx="5380528" cy="2286001"/>
          </a:xfrm>
        </p:spPr>
        <p:txBody>
          <a:bodyPr>
            <a:normAutofit/>
          </a:bodyPr>
          <a:lstStyle/>
          <a:p>
            <a:r>
              <a:rPr lang="en-IN" dirty="0"/>
              <a:t>Reinforced 3-cluster structure.</a:t>
            </a:r>
          </a:p>
          <a:p>
            <a:r>
              <a:rPr lang="en-IN" dirty="0"/>
              <a:t>The heatmap showed:</a:t>
            </a:r>
          </a:p>
          <a:p>
            <a:pPr marL="283464" lvl="1" indent="0">
              <a:buNone/>
            </a:pPr>
            <a:r>
              <a:rPr lang="en-IN" dirty="0"/>
              <a:t>Cluster 1: High overall activity</a:t>
            </a:r>
          </a:p>
          <a:p>
            <a:pPr marL="283464" lvl="1" indent="0">
              <a:buNone/>
            </a:pPr>
            <a:r>
              <a:rPr lang="en-IN" dirty="0"/>
              <a:t>Cluster 2: Moderate </a:t>
            </a:r>
            <a:r>
              <a:rPr lang="en-IN" dirty="0" err="1"/>
              <a:t>behavior</a:t>
            </a:r>
            <a:endParaRPr lang="en-IN" dirty="0"/>
          </a:p>
          <a:p>
            <a:pPr marL="283464" lvl="1" indent="0">
              <a:buNone/>
            </a:pPr>
            <a:r>
              <a:rPr lang="en-IN" dirty="0"/>
              <a:t>Cluster 3: Low activity</a:t>
            </a:r>
          </a:p>
        </p:txBody>
      </p:sp>
      <p:pic>
        <p:nvPicPr>
          <p:cNvPr id="5" name="Picture 4" descr="A graph with blue squares&#10;&#10;AI-generated content may be incorrect.">
            <a:extLst>
              <a:ext uri="{FF2B5EF4-FFF2-40B4-BE49-F238E27FC236}">
                <a16:creationId xmlns:a16="http://schemas.microsoft.com/office/drawing/2014/main" id="{E7B4B2B6-3270-8DDE-ED2C-616DA0980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44" y="1711953"/>
            <a:ext cx="5587999" cy="399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6980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7BCEA4-325F-04C1-5475-8B9616735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382AB-4661-8CB7-2F88-9A875B0F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A9BD7-2E01-34F3-BC2C-8E526E5FF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binary classification problem whose goal is to predict whether a customer is High-Value or Not High-Value.</a:t>
            </a:r>
          </a:p>
          <a:p>
            <a:r>
              <a:rPr lang="en-US" dirty="0"/>
              <a:t>Implementation – </a:t>
            </a:r>
          </a:p>
          <a:p>
            <a:pPr marL="797814" lvl="1" indent="-514350">
              <a:buFont typeface="+mj-lt"/>
              <a:buAutoNum type="arabicPeriod"/>
            </a:pPr>
            <a:r>
              <a:rPr lang="en-US" dirty="0"/>
              <a:t>Label the customers and split into training and test sets.</a:t>
            </a:r>
          </a:p>
          <a:p>
            <a:pPr marL="797814" lvl="1" indent="-514350">
              <a:buFont typeface="+mj-lt"/>
              <a:buAutoNum type="arabicPeriod"/>
            </a:pPr>
            <a:r>
              <a:rPr lang="en-US" dirty="0"/>
              <a:t>Models Used </a:t>
            </a:r>
          </a:p>
          <a:p>
            <a:pPr lvl="3"/>
            <a:r>
              <a:rPr lang="en-US" dirty="0"/>
              <a:t>Decision Tree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marL="850392" lvl="3" indent="0">
              <a:buNone/>
            </a:pPr>
            <a:endParaRPr lang="en-US" dirty="0"/>
          </a:p>
          <a:p>
            <a:pPr marL="850392" lvl="3" indent="0">
              <a:buNone/>
            </a:pPr>
            <a:endParaRPr lang="en-US" sz="1100" dirty="0"/>
          </a:p>
          <a:p>
            <a:pPr lvl="3"/>
            <a:r>
              <a:rPr lang="en-US" dirty="0"/>
              <a:t>Random Forest</a:t>
            </a:r>
            <a:endParaRPr lang="en-IN" dirty="0"/>
          </a:p>
        </p:txBody>
      </p:sp>
      <p:pic>
        <p:nvPicPr>
          <p:cNvPr id="5" name="Picture 4" descr="A close-up of a sign&#10;&#10;AI-generated content may be incorrect.">
            <a:extLst>
              <a:ext uri="{FF2B5EF4-FFF2-40B4-BE49-F238E27FC236}">
                <a16:creationId xmlns:a16="http://schemas.microsoft.com/office/drawing/2014/main" id="{87314A67-2AD6-6B6F-214A-F0A8AF32A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3365" y="3579854"/>
            <a:ext cx="5586626" cy="12212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787528-623B-34C2-7CBA-812CEAA97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362" y="5049969"/>
            <a:ext cx="5586626" cy="1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1083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BF5A24-FF00-CC08-EC29-F8C71F5F0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4B6ADE3-36C8-76F6-B7E6-9A3D7A31E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889" y="104291"/>
            <a:ext cx="10194323" cy="969264"/>
          </a:xfrm>
        </p:spPr>
        <p:txBody>
          <a:bodyPr anchor="ctr">
            <a:noAutofit/>
          </a:bodyPr>
          <a:lstStyle/>
          <a:p>
            <a:r>
              <a:rPr lang="en-US" sz="3600" dirty="0"/>
              <a:t>FEATURE IMPORTANCE FOR DECISION TREE</a:t>
            </a:r>
          </a:p>
        </p:txBody>
      </p:sp>
      <p:pic>
        <p:nvPicPr>
          <p:cNvPr id="3" name="Picture 2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518F00D7-8CFC-F353-7F44-9C3CEA405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73555"/>
            <a:ext cx="7772400" cy="55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78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37E694-2284-BEB8-3577-F85045198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9BF17B13-F472-75FE-C975-BFF21F706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883" y="116647"/>
            <a:ext cx="10536234" cy="969264"/>
          </a:xfrm>
        </p:spPr>
        <p:txBody>
          <a:bodyPr anchor="ctr">
            <a:noAutofit/>
          </a:bodyPr>
          <a:lstStyle/>
          <a:p>
            <a:r>
              <a:rPr lang="en-US" sz="3600" dirty="0"/>
              <a:t>FEATURE IMPORTANCE FOR RANDOM FOREST</a:t>
            </a:r>
          </a:p>
        </p:txBody>
      </p:sp>
      <p:pic>
        <p:nvPicPr>
          <p:cNvPr id="3" name="Picture 2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E0FC5B91-2F41-93B7-CC8D-F77E7F697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85911"/>
            <a:ext cx="7772400" cy="55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502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C20714-DD87-A02A-1AC1-745D45985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90DBC-0D45-C613-E414-85B0A8829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104291"/>
            <a:ext cx="10287000" cy="969264"/>
          </a:xfrm>
        </p:spPr>
        <p:txBody>
          <a:bodyPr/>
          <a:lstStyle/>
          <a:p>
            <a:r>
              <a:rPr lang="en-US" dirty="0"/>
              <a:t>RESULTS OF CLASSIFICATION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65902-4141-00EA-D59C-94C974DDE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Decision Tree Accuracy: ~94%</a:t>
            </a:r>
          </a:p>
          <a:p>
            <a:r>
              <a:rPr lang="en-IN" dirty="0"/>
              <a:t>Random Forest Accuracy: ~99%</a:t>
            </a:r>
          </a:p>
          <a:p>
            <a:endParaRPr lang="en-IN" dirty="0"/>
          </a:p>
          <a:p>
            <a:r>
              <a:rPr lang="en-IN" dirty="0"/>
              <a:t>Feature importance for both models ranked:</a:t>
            </a:r>
          </a:p>
          <a:p>
            <a:pPr marL="797814" lvl="1" indent="-514350">
              <a:buFont typeface="+mj-lt"/>
              <a:buAutoNum type="arabicPeriod"/>
            </a:pPr>
            <a:r>
              <a:rPr lang="en-IN" dirty="0"/>
              <a:t>Total Spent</a:t>
            </a:r>
          </a:p>
          <a:p>
            <a:pPr marL="797814" lvl="1" indent="-514350">
              <a:buFont typeface="+mj-lt"/>
              <a:buAutoNum type="arabicPeriod"/>
            </a:pPr>
            <a:r>
              <a:rPr lang="en-IN" dirty="0"/>
              <a:t>Number of Orders</a:t>
            </a:r>
          </a:p>
          <a:p>
            <a:pPr marL="797814" lvl="1" indent="-514350">
              <a:buFont typeface="+mj-lt"/>
              <a:buAutoNum type="arabicPeriod"/>
            </a:pPr>
            <a:r>
              <a:rPr lang="en-IN" dirty="0"/>
              <a:t>Total Quantity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38DF15-B05E-B249-63D2-44CEA115B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94708"/>
            <a:ext cx="4876800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190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708300-C793-FCBB-2E8F-70341687E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BB940-9CCE-9272-47C5-B1F4FFF04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3204" y="104924"/>
            <a:ext cx="8165592" cy="969264"/>
          </a:xfrm>
        </p:spPr>
        <p:txBody>
          <a:bodyPr/>
          <a:lstStyle/>
          <a:p>
            <a:r>
              <a:rPr lang="en-US" dirty="0"/>
              <a:t>ROC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46921-B952-1F0D-3ACB-F8EF2535E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ROC (Receiver Operating Characteristic) curve measures how well the model distinguishes between classes (High vs Not High).</a:t>
            </a:r>
          </a:p>
          <a:p>
            <a:r>
              <a:rPr lang="en-US" dirty="0"/>
              <a:t>AUC (Area Under Curve) indicates: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1.0 = perfect classifier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0.5 = random guessing</a:t>
            </a:r>
          </a:p>
          <a:p>
            <a:r>
              <a:rPr lang="en-US" dirty="0"/>
              <a:t>Implementation – </a:t>
            </a:r>
          </a:p>
          <a:p>
            <a:pPr marL="797814" lvl="1" indent="-514350">
              <a:buFont typeface="+mj-lt"/>
              <a:buAutoNum type="arabicPeriod"/>
            </a:pPr>
            <a:r>
              <a:rPr lang="en-IN" dirty="0"/>
              <a:t>Predict probabilities for High Class.</a:t>
            </a:r>
          </a:p>
          <a:p>
            <a:pPr marL="797814" lvl="1" indent="-514350">
              <a:buFont typeface="+mj-lt"/>
              <a:buAutoNum type="arabicPeriod"/>
            </a:pPr>
            <a:r>
              <a:rPr lang="en-IN" dirty="0"/>
              <a:t>Generate ROC objects for both Decision tree and Random Forest.</a:t>
            </a:r>
          </a:p>
          <a:p>
            <a:pPr marL="797814" lvl="1" indent="-514350">
              <a:buFont typeface="+mj-lt"/>
              <a:buAutoNum type="arabicPeriod"/>
            </a:pPr>
            <a:r>
              <a:rPr lang="en-US" dirty="0"/>
              <a:t>Plot both curves on one chart.</a:t>
            </a:r>
          </a:p>
        </p:txBody>
      </p:sp>
      <p:pic>
        <p:nvPicPr>
          <p:cNvPr id="6" name="Picture 5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78EE5F89-8B85-A7A7-CDDE-30B592210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128" y="5194934"/>
            <a:ext cx="3948424" cy="7150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11C2CB-AEB6-6CEB-DFEE-97153B738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128" y="5864648"/>
            <a:ext cx="3948424" cy="38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5353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F400B-742F-E7C8-5DEC-0B81D5FA9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302CA-09E3-F5CA-8E1A-DB79231A0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+mn-lt"/>
              </a:rPr>
              <a:t>RESULTS OF ROC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44311-B3D2-AEBD-4B1C-0990DF206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109" y="2456802"/>
            <a:ext cx="5048250" cy="1569492"/>
          </a:xfrm>
        </p:spPr>
        <p:txBody>
          <a:bodyPr>
            <a:normAutofit/>
          </a:bodyPr>
          <a:lstStyle/>
          <a:p>
            <a:pPr lvl="0"/>
            <a:r>
              <a:rPr lang="en-IN" sz="2400" dirty="0"/>
              <a:t>Random Forest curve hugs the top-left, which is excellent</a:t>
            </a:r>
          </a:p>
          <a:p>
            <a:pPr lvl="0"/>
            <a:r>
              <a:rPr lang="en-IN" sz="2400" dirty="0"/>
              <a:t>Decision Tree curve is lower, which is good but not perfect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59238D4-F1AD-F415-34FE-6652A13EFEB0}"/>
              </a:ext>
            </a:extLst>
          </p:cNvPr>
          <p:cNvSpPr txBox="1">
            <a:spLocks/>
          </p:cNvSpPr>
          <p:nvPr/>
        </p:nvSpPr>
        <p:spPr>
          <a:xfrm>
            <a:off x="341194" y="5458968"/>
            <a:ext cx="11450472" cy="9692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latin typeface="+mn-lt"/>
              </a:rPr>
              <a:t>Random Forest (AUC </a:t>
            </a:r>
            <a:r>
              <a:rPr lang="en-IN" sz="2000">
                <a:latin typeface="+mn-lt"/>
              </a:rPr>
              <a:t>= 1) </a:t>
            </a:r>
            <a:r>
              <a:rPr lang="en-IN" sz="2000" dirty="0">
                <a:latin typeface="+mn-lt"/>
              </a:rPr>
              <a:t>consistently stayed above the Decision Tree (AUC </a:t>
            </a:r>
            <a:r>
              <a:rPr lang="en-IN" sz="2000">
                <a:latin typeface="+mn-lt"/>
              </a:rPr>
              <a:t>= 0.96) </a:t>
            </a:r>
            <a:r>
              <a:rPr lang="en-IN" sz="2000" dirty="0">
                <a:latin typeface="+mn-lt"/>
              </a:rPr>
              <a:t>curve, </a:t>
            </a:r>
          </a:p>
          <a:p>
            <a:r>
              <a:rPr lang="en-IN" sz="2000" dirty="0">
                <a:latin typeface="+mn-lt"/>
              </a:rPr>
              <a:t>showing exceptional classification performance.</a:t>
            </a:r>
            <a:endParaRPr lang="en-US" sz="2000" dirty="0">
              <a:latin typeface="+mn-lt"/>
            </a:endParaRPr>
          </a:p>
        </p:txBody>
      </p:sp>
      <p:pic>
        <p:nvPicPr>
          <p:cNvPr id="6" name="Picture 5" descr="A graph of a tree&#10;&#10;AI-generated content may be incorrect.">
            <a:extLst>
              <a:ext uri="{FF2B5EF4-FFF2-40B4-BE49-F238E27FC236}">
                <a16:creationId xmlns:a16="http://schemas.microsoft.com/office/drawing/2014/main" id="{6CB8FED2-6960-01B0-6561-E7B25D45F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34" y="1024128"/>
            <a:ext cx="6291581" cy="449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9179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95D471-47F6-AE7A-EBE3-603D30989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37A62-DDF2-5288-35C8-271CC5FAF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112" y="54864"/>
            <a:ext cx="8165592" cy="9692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FINAL 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404E05-D6D9-3BD2-BF8B-AE6A8CB17D35}"/>
              </a:ext>
            </a:extLst>
          </p:cNvPr>
          <p:cNvSpPr txBox="1"/>
          <p:nvPr/>
        </p:nvSpPr>
        <p:spPr>
          <a:xfrm>
            <a:off x="987552" y="1444752"/>
            <a:ext cx="10287000" cy="456285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 fontScale="92500" lnSpcReduction="10000"/>
          </a:bodyPr>
          <a:lstStyle/>
          <a:p>
            <a:pPr marL="283464" indent="-283464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Association rules revealed meaningful product pairings based on lift.</a:t>
            </a:r>
          </a:p>
          <a:p>
            <a:pPr marL="283464" indent="-283464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Clustering created three clear customer segments:</a:t>
            </a:r>
          </a:p>
          <a:p>
            <a:pPr marL="800100" lvl="1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High-Value Frequent Buyers  </a:t>
            </a:r>
          </a:p>
          <a:p>
            <a:pPr marL="800100" lvl="1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Low-Value Casual Buyers  </a:t>
            </a:r>
          </a:p>
          <a:p>
            <a:pPr marL="800100" lvl="1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Large-Basket Buyers  </a:t>
            </a:r>
          </a:p>
          <a:p>
            <a:pPr marL="283464" indent="-283464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283464" indent="-283464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Classification identified key drivers of high-value customers:</a:t>
            </a:r>
          </a:p>
          <a:p>
            <a:pPr marL="800100" lvl="1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Decision Tree: </a:t>
            </a:r>
            <a:r>
              <a:rPr lang="en-US" sz="2400" dirty="0" err="1"/>
              <a:t>total_spent</a:t>
            </a:r>
            <a:r>
              <a:rPr lang="en-US" sz="2400" dirty="0"/>
              <a:t>, </a:t>
            </a:r>
            <a:r>
              <a:rPr lang="en-US" sz="2400" dirty="0" err="1"/>
              <a:t>num_orders</a:t>
            </a:r>
            <a:r>
              <a:rPr lang="en-US" sz="2400" dirty="0"/>
              <a:t> strongest predictors  </a:t>
            </a:r>
          </a:p>
          <a:p>
            <a:pPr marL="800100" lvl="1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Random Forest achieved higher AUC and accuracy</a:t>
            </a:r>
          </a:p>
          <a:p>
            <a:pPr marL="283464" indent="-283464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283464" indent="-283464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ROC analysis shows Random Forest outperforms Decision Tree consistently.</a:t>
            </a:r>
          </a:p>
        </p:txBody>
      </p:sp>
    </p:spTree>
    <p:extLst>
      <p:ext uri="{BB962C8B-B14F-4D97-AF65-F5344CB8AC3E}">
        <p14:creationId xmlns:p14="http://schemas.microsoft.com/office/powerpoint/2010/main" val="27477365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D8761-2537-7A8E-AAF5-0200BA274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7944" y="2799806"/>
            <a:ext cx="5952744" cy="164592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8" name="Picture Placeholder 7" descr="City steps">
            <a:extLst>
              <a:ext uri="{FF2B5EF4-FFF2-40B4-BE49-F238E27FC236}">
                <a16:creationId xmlns:a16="http://schemas.microsoft.com/office/drawing/2014/main" id="{3E013DA2-B732-4592-2541-5EA872C2160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078"/>
                    </a14:imgEffect>
                    <a14:imgEffect>
                      <a14:brightnessContrast bright="-14000" contrast="-3000"/>
                    </a14:imgEffect>
                  </a14:imgLayer>
                </a14:imgProps>
              </a:ext>
            </a:extLst>
          </a:blip>
          <a:srcRect t="81" b="81"/>
          <a:stretch/>
        </p:blipFill>
        <p:spPr/>
      </p:pic>
    </p:spTree>
    <p:extLst>
      <p:ext uri="{BB962C8B-B14F-4D97-AF65-F5344CB8AC3E}">
        <p14:creationId xmlns:p14="http://schemas.microsoft.com/office/powerpoint/2010/main" val="1625759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3">
      <a:dk1>
        <a:srgbClr val="000000"/>
      </a:dk1>
      <a:lt1>
        <a:srgbClr val="FFFFFF"/>
      </a:lt1>
      <a:dk2>
        <a:srgbClr val="59512B"/>
      </a:dk2>
      <a:lt2>
        <a:srgbClr val="E7E4E6"/>
      </a:lt2>
      <a:accent1>
        <a:srgbClr val="F8F4EC"/>
      </a:accent1>
      <a:accent2>
        <a:srgbClr val="474134"/>
      </a:accent2>
      <a:accent3>
        <a:srgbClr val="E5E0D8"/>
      </a:accent3>
      <a:accent4>
        <a:srgbClr val="B6A592"/>
      </a:accent4>
      <a:accent5>
        <a:srgbClr val="F4F0ED"/>
      </a:accent5>
      <a:accent6>
        <a:srgbClr val="CEC5A7"/>
      </a:accent6>
      <a:hlink>
        <a:srgbClr val="827D57"/>
      </a:hlink>
      <a:folHlink>
        <a:srgbClr val="867052"/>
      </a:folHlink>
    </a:clrScheme>
    <a:fontScheme name="Custom 31">
      <a:majorFont>
        <a:latin typeface="Felix Titl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ty-Design-Berlin-Presentation_Win32_SW_v11" id="{A1E1012F-E9F8-4F40-92C8-C50A5DD6BDB3}" vid="{84DD5023-C7E9-4B03-B2A5-92320E38EF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09262BC-C013-4067-8A15-9DCD1281E34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8AEB05A-1290-41EF-A3CD-520462C3FF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7B04EA5-0343-4579-A177-61682A6D2ED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2213</TotalTime>
  <Words>1152</Words>
  <Application>Microsoft Macintosh PowerPoint</Application>
  <PresentationFormat>Widescreen</PresentationFormat>
  <Paragraphs>197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Avenir Next LT Pro</vt:lpstr>
      <vt:lpstr>Calibri</vt:lpstr>
      <vt:lpstr>Felix Titling</vt:lpstr>
      <vt:lpstr>Gill Sans Nova Light</vt:lpstr>
      <vt:lpstr>Times New Roman</vt:lpstr>
      <vt:lpstr>Wingdings</vt:lpstr>
      <vt:lpstr>Office Theme</vt:lpstr>
      <vt:lpstr>Online Retail Data Mining</vt:lpstr>
      <vt:lpstr>Introduction</vt:lpstr>
      <vt:lpstr>Research Question?</vt:lpstr>
      <vt:lpstr>Dataset overview</vt:lpstr>
      <vt:lpstr>BASIC DATA CLEANING</vt:lpstr>
      <vt:lpstr>Data CLEANING</vt:lpstr>
      <vt:lpstr>FEATURE ENGINEERING</vt:lpstr>
      <vt:lpstr>EXPLORATORY DATA ANALYSIS</vt:lpstr>
      <vt:lpstr>EXPLORATORY DATA ANALYSIS</vt:lpstr>
      <vt:lpstr>EXPLORATORY DATA ANALYSIS</vt:lpstr>
      <vt:lpstr>Apriori Algorithm</vt:lpstr>
      <vt:lpstr>RESULTS OF Apriori Algorithm</vt:lpstr>
      <vt:lpstr> Top 15 association rules by lift </vt:lpstr>
      <vt:lpstr>ECLAT Algorithm</vt:lpstr>
      <vt:lpstr>RESULTS OF ECLAT Algorithm</vt:lpstr>
      <vt:lpstr> Top 15 ECLAT rules by SUPPORT </vt:lpstr>
      <vt:lpstr>K-Means clustering</vt:lpstr>
      <vt:lpstr>RESULTS OF K-MEANS ALGORITHM</vt:lpstr>
      <vt:lpstr>CLUSTER PROFILING</vt:lpstr>
      <vt:lpstr>CUSTOMER SEGMENT PROFILES</vt:lpstr>
      <vt:lpstr>HIERARCHICAL CLUSTERING</vt:lpstr>
      <vt:lpstr>OUTPUT OF HIERARCHICAL CLUSTERING</vt:lpstr>
      <vt:lpstr>CLASSIFICATION MODELING</vt:lpstr>
      <vt:lpstr>FEATURE IMPORTANCE FOR DECISION TREE</vt:lpstr>
      <vt:lpstr>FEATURE IMPORTANCE FOR RANDOM FOREST</vt:lpstr>
      <vt:lpstr>RESULTS OF CLASSIFICATION MODELING</vt:lpstr>
      <vt:lpstr>ROC CURVE</vt:lpstr>
      <vt:lpstr>RESULTS OF ROC CURVE</vt:lpstr>
      <vt:lpstr>FINAL 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Bhattad, Rishabh - (rishabhbhattad)</cp:lastModifiedBy>
  <cp:revision>111</cp:revision>
  <dcterms:created xsi:type="dcterms:W3CDTF">2025-11-13T07:45:14Z</dcterms:created>
  <dcterms:modified xsi:type="dcterms:W3CDTF">2025-12-11T00:29:07Z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